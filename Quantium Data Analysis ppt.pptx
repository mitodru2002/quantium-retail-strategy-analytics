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9" d="100"/>
          <a:sy n="119" d="100"/>
        </p:scale>
        <p:origin x="-394" y="-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40" y="63195"/>
            <a:ext cx="769111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0871" y="991361"/>
            <a:ext cx="3731259" cy="313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846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mitodrumridha@gmail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1632" y="1059637"/>
            <a:ext cx="5107940" cy="186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215" dirty="0"/>
              <a:t>Crunching</a:t>
            </a:r>
            <a:r>
              <a:rPr sz="3600" spc="-125" dirty="0"/>
              <a:t> </a:t>
            </a:r>
            <a:r>
              <a:rPr sz="3600" spc="150" dirty="0"/>
              <a:t>the</a:t>
            </a:r>
            <a:r>
              <a:rPr sz="3600" spc="-120" dirty="0"/>
              <a:t> </a:t>
            </a:r>
            <a:r>
              <a:rPr sz="3600" spc="165" dirty="0"/>
              <a:t>Numbers: </a:t>
            </a:r>
            <a:r>
              <a:rPr sz="3600" spc="430" dirty="0"/>
              <a:t>EDA</a:t>
            </a:r>
            <a:r>
              <a:rPr sz="3600" spc="-125" dirty="0"/>
              <a:t> </a:t>
            </a:r>
            <a:r>
              <a:rPr sz="3600" spc="275" dirty="0"/>
              <a:t>of</a:t>
            </a:r>
            <a:r>
              <a:rPr sz="3600" spc="-114" dirty="0"/>
              <a:t> </a:t>
            </a:r>
            <a:r>
              <a:rPr sz="3600" spc="225" dirty="0"/>
              <a:t>Chips</a:t>
            </a:r>
            <a:r>
              <a:rPr sz="3600" spc="-120" dirty="0"/>
              <a:t> </a:t>
            </a:r>
            <a:r>
              <a:rPr sz="3600" spc="145" dirty="0"/>
              <a:t>Industry </a:t>
            </a:r>
            <a:r>
              <a:rPr sz="3600" spc="315" dirty="0"/>
              <a:t>Data</a:t>
            </a:r>
            <a:endParaRPr sz="3600" dirty="0"/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145" dirty="0"/>
              <a:t>A</a:t>
            </a:r>
            <a:r>
              <a:rPr sz="1200" spc="-40" dirty="0"/>
              <a:t> </a:t>
            </a:r>
            <a:r>
              <a:rPr sz="1200" spc="80" dirty="0"/>
              <a:t>QUANTIUM</a:t>
            </a:r>
            <a:r>
              <a:rPr sz="1200" spc="-60" dirty="0"/>
              <a:t> </a:t>
            </a:r>
            <a:r>
              <a:rPr sz="1200" spc="110" dirty="0"/>
              <a:t>Job</a:t>
            </a:r>
            <a:r>
              <a:rPr sz="1200" spc="-40" dirty="0"/>
              <a:t> </a:t>
            </a:r>
            <a:r>
              <a:rPr sz="1200" spc="35" dirty="0"/>
              <a:t>Simulation</a:t>
            </a:r>
            <a:endParaRPr sz="1200" dirty="0"/>
          </a:p>
        </p:txBody>
      </p:sp>
      <p:sp>
        <p:nvSpPr>
          <p:cNvPr id="3" name="object 3"/>
          <p:cNvSpPr txBox="1"/>
          <p:nvPr/>
        </p:nvSpPr>
        <p:spPr>
          <a:xfrm>
            <a:off x="214070" y="3572636"/>
            <a:ext cx="397692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5" dirty="0">
                <a:solidFill>
                  <a:srgbClr val="384654"/>
                </a:solidFill>
                <a:latin typeface="Calibri"/>
                <a:cs typeface="Calibri"/>
              </a:rPr>
              <a:t>Presented</a:t>
            </a:r>
            <a:r>
              <a:rPr sz="15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500" b="1" spc="100" dirty="0">
                <a:solidFill>
                  <a:srgbClr val="384654"/>
                </a:solidFill>
                <a:latin typeface="Calibri"/>
                <a:cs typeface="Calibri"/>
              </a:rPr>
              <a:t>by:</a:t>
            </a:r>
            <a:r>
              <a:rPr sz="1500" b="1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lang="en-IN" sz="1500" spc="75" dirty="0" smtClean="0">
                <a:solidFill>
                  <a:srgbClr val="384654"/>
                </a:solidFill>
                <a:latin typeface="Calibri"/>
                <a:cs typeface="Calibri"/>
              </a:rPr>
              <a:t>Mitodru </a:t>
            </a:r>
            <a:r>
              <a:rPr lang="en-IN" sz="1500" spc="75" dirty="0" err="1" smtClean="0">
                <a:solidFill>
                  <a:srgbClr val="384654"/>
                </a:solidFill>
                <a:latin typeface="Calibri"/>
                <a:cs typeface="Calibri"/>
              </a:rPr>
              <a:t>Mridha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5305" y="-9525"/>
            <a:ext cx="4029075" cy="5162550"/>
            <a:chOff x="5115305" y="-9525"/>
            <a:chExt cx="4029075" cy="5162550"/>
          </a:xfrm>
        </p:grpSpPr>
        <p:sp>
          <p:nvSpPr>
            <p:cNvPr id="5" name="object 5"/>
            <p:cNvSpPr/>
            <p:nvPr/>
          </p:nvSpPr>
          <p:spPr>
            <a:xfrm>
              <a:off x="8492490" y="0"/>
              <a:ext cx="651510" cy="775970"/>
            </a:xfrm>
            <a:custGeom>
              <a:avLst/>
              <a:gdLst/>
              <a:ahLst/>
              <a:cxnLst/>
              <a:rect l="l" t="t" r="r" b="b"/>
              <a:pathLst>
                <a:path w="651509" h="775970">
                  <a:moveTo>
                    <a:pt x="651509" y="0"/>
                  </a:moveTo>
                  <a:lnTo>
                    <a:pt x="85359" y="0"/>
                  </a:lnTo>
                  <a:lnTo>
                    <a:pt x="0" y="49275"/>
                  </a:lnTo>
                  <a:lnTo>
                    <a:pt x="0" y="533400"/>
                  </a:lnTo>
                  <a:lnTo>
                    <a:pt x="419100" y="775462"/>
                  </a:lnTo>
                  <a:lnTo>
                    <a:pt x="651509" y="641390"/>
                  </a:lnTo>
                  <a:lnTo>
                    <a:pt x="651509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1798" y="3267836"/>
              <a:ext cx="592455" cy="968375"/>
            </a:xfrm>
            <a:custGeom>
              <a:avLst/>
              <a:gdLst/>
              <a:ahLst/>
              <a:cxnLst/>
              <a:rect l="l" t="t" r="r" b="b"/>
              <a:pathLst>
                <a:path w="59245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97"/>
                  </a:lnTo>
                  <a:lnTo>
                    <a:pt x="418973" y="968121"/>
                  </a:lnTo>
                  <a:lnTo>
                    <a:pt x="592201" y="868235"/>
                  </a:lnTo>
                  <a:lnTo>
                    <a:pt x="592201" y="99900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06666" y="2547366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1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2061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3491" y="0"/>
              <a:ext cx="838835" cy="814705"/>
            </a:xfrm>
            <a:custGeom>
              <a:avLst/>
              <a:gdLst/>
              <a:ahLst/>
              <a:cxnLst/>
              <a:rect l="l" t="t" r="r" b="b"/>
              <a:pathLst>
                <a:path w="838834" h="814705">
                  <a:moveTo>
                    <a:pt x="684996" y="0"/>
                  </a:moveTo>
                  <a:lnTo>
                    <a:pt x="153432" y="0"/>
                  </a:lnTo>
                  <a:lnTo>
                    <a:pt x="0" y="88646"/>
                  </a:lnTo>
                  <a:lnTo>
                    <a:pt x="0" y="572770"/>
                  </a:lnTo>
                  <a:lnTo>
                    <a:pt x="418973" y="814704"/>
                  </a:lnTo>
                  <a:lnTo>
                    <a:pt x="838707" y="572770"/>
                  </a:lnTo>
                  <a:lnTo>
                    <a:pt x="838707" y="88646"/>
                  </a:lnTo>
                  <a:lnTo>
                    <a:pt x="684996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84009" y="31851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835" y="726059"/>
                  </a:lnTo>
                  <a:lnTo>
                    <a:pt x="838835" y="24193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84009" y="31851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835" y="726059"/>
                  </a:lnTo>
                  <a:lnTo>
                    <a:pt x="838835" y="241935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9842" y="119405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9100" y="968121"/>
                  </a:lnTo>
                  <a:lnTo>
                    <a:pt x="838708" y="726186"/>
                  </a:lnTo>
                  <a:lnTo>
                    <a:pt x="838708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9842" y="119405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9100" y="968121"/>
                  </a:lnTo>
                  <a:lnTo>
                    <a:pt x="838708" y="726186"/>
                  </a:lnTo>
                  <a:lnTo>
                    <a:pt x="838708" y="242062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9842" y="69773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09842" y="69773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4228" y="0"/>
              <a:ext cx="2792095" cy="2162175"/>
            </a:xfrm>
            <a:custGeom>
              <a:avLst/>
              <a:gdLst/>
              <a:ahLst/>
              <a:cxnLst/>
              <a:rect l="l" t="t" r="r" b="b"/>
              <a:pathLst>
                <a:path w="2792095" h="2162175">
                  <a:moveTo>
                    <a:pt x="838708" y="0"/>
                  </a:moveTo>
                  <a:lnTo>
                    <a:pt x="0" y="0"/>
                  </a:lnTo>
                  <a:lnTo>
                    <a:pt x="0" y="297434"/>
                  </a:lnTo>
                  <a:lnTo>
                    <a:pt x="418973" y="539496"/>
                  </a:lnTo>
                  <a:lnTo>
                    <a:pt x="838708" y="297434"/>
                  </a:lnTo>
                  <a:lnTo>
                    <a:pt x="838708" y="0"/>
                  </a:lnTo>
                  <a:close/>
                </a:path>
                <a:path w="2792095" h="2162175">
                  <a:moveTo>
                    <a:pt x="2791841" y="1436116"/>
                  </a:moveTo>
                  <a:lnTo>
                    <a:pt x="2372106" y="1194054"/>
                  </a:lnTo>
                  <a:lnTo>
                    <a:pt x="1953133" y="1436116"/>
                  </a:lnTo>
                  <a:lnTo>
                    <a:pt x="1953133" y="1920113"/>
                  </a:lnTo>
                  <a:lnTo>
                    <a:pt x="2372106" y="2162175"/>
                  </a:lnTo>
                  <a:lnTo>
                    <a:pt x="2791841" y="1920113"/>
                  </a:lnTo>
                  <a:lnTo>
                    <a:pt x="2791841" y="1436116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17892" y="20750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17892" y="20750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93791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93791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68945" y="162217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3" y="968120"/>
                  </a:lnTo>
                  <a:lnTo>
                    <a:pt x="838707" y="726185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68945" y="162217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3" y="968120"/>
                  </a:lnTo>
                  <a:lnTo>
                    <a:pt x="838707" y="726185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15305" y="365594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122"/>
                  </a:lnTo>
                  <a:lnTo>
                    <a:pt x="419100" y="968146"/>
                  </a:lnTo>
                  <a:lnTo>
                    <a:pt x="838708" y="726122"/>
                  </a:lnTo>
                  <a:lnTo>
                    <a:pt x="838708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06666" y="392469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8973" y="968120"/>
                  </a:lnTo>
                  <a:lnTo>
                    <a:pt x="838707" y="726097"/>
                  </a:lnTo>
                  <a:lnTo>
                    <a:pt x="838707" y="242036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7433" y="5053658"/>
              <a:ext cx="311785" cy="90170"/>
            </a:xfrm>
            <a:custGeom>
              <a:avLst/>
              <a:gdLst/>
              <a:ahLst/>
              <a:cxnLst/>
              <a:rect l="l" t="t" r="r" b="b"/>
              <a:pathLst>
                <a:path w="311784" h="90170">
                  <a:moveTo>
                    <a:pt x="155525" y="0"/>
                  </a:moveTo>
                  <a:lnTo>
                    <a:pt x="0" y="89841"/>
                  </a:lnTo>
                  <a:lnTo>
                    <a:pt x="311333" y="89841"/>
                  </a:lnTo>
                  <a:lnTo>
                    <a:pt x="155525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8801" y="353339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33"/>
                  </a:lnTo>
                  <a:lnTo>
                    <a:pt x="418973" y="968070"/>
                  </a:lnTo>
                  <a:lnTo>
                    <a:pt x="838707" y="726033"/>
                  </a:lnTo>
                  <a:lnTo>
                    <a:pt x="838707" y="241934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8801" y="353339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968070"/>
                  </a:moveTo>
                  <a:lnTo>
                    <a:pt x="0" y="726033"/>
                  </a:lnTo>
                  <a:lnTo>
                    <a:pt x="0" y="241934"/>
                  </a:lnTo>
                  <a:lnTo>
                    <a:pt x="418973" y="0"/>
                  </a:lnTo>
                  <a:lnTo>
                    <a:pt x="838707" y="241934"/>
                  </a:lnTo>
                  <a:lnTo>
                    <a:pt x="838707" y="726033"/>
                  </a:lnTo>
                  <a:lnTo>
                    <a:pt x="418973" y="96807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06666" y="4609414"/>
              <a:ext cx="838835" cy="534670"/>
            </a:xfrm>
            <a:custGeom>
              <a:avLst/>
              <a:gdLst/>
              <a:ahLst/>
              <a:cxnLst/>
              <a:rect l="l" t="t" r="r" b="b"/>
              <a:pathLst>
                <a:path w="838834" h="534670">
                  <a:moveTo>
                    <a:pt x="418973" y="0"/>
                  </a:moveTo>
                  <a:lnTo>
                    <a:pt x="0" y="242023"/>
                  </a:lnTo>
                  <a:lnTo>
                    <a:pt x="0" y="534085"/>
                  </a:lnTo>
                  <a:lnTo>
                    <a:pt x="838707" y="534085"/>
                  </a:lnTo>
                  <a:lnTo>
                    <a:pt x="838707" y="242023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06666" y="4609414"/>
              <a:ext cx="838835" cy="534670"/>
            </a:xfrm>
            <a:custGeom>
              <a:avLst/>
              <a:gdLst/>
              <a:ahLst/>
              <a:cxnLst/>
              <a:rect l="l" t="t" r="r" b="b"/>
              <a:pathLst>
                <a:path w="838834" h="534670">
                  <a:moveTo>
                    <a:pt x="0" y="534085"/>
                  </a:moveTo>
                  <a:lnTo>
                    <a:pt x="0" y="242023"/>
                  </a:lnTo>
                  <a:lnTo>
                    <a:pt x="418973" y="0"/>
                  </a:lnTo>
                  <a:lnTo>
                    <a:pt x="838707" y="242023"/>
                  </a:lnTo>
                  <a:lnTo>
                    <a:pt x="838707" y="53408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26531" y="412829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2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8972" y="968121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26531" y="412829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2" y="968121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8972" y="0"/>
                  </a:lnTo>
                  <a:lnTo>
                    <a:pt x="838707" y="242023"/>
                  </a:lnTo>
                  <a:lnTo>
                    <a:pt x="838707" y="726084"/>
                  </a:lnTo>
                  <a:lnTo>
                    <a:pt x="418972" y="96812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17332" y="285229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9"/>
                  </a:lnTo>
                  <a:lnTo>
                    <a:pt x="418973" y="968120"/>
                  </a:lnTo>
                  <a:lnTo>
                    <a:pt x="838708" y="726059"/>
                  </a:lnTo>
                  <a:lnTo>
                    <a:pt x="838708" y="241934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17332" y="285229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9"/>
                  </a:lnTo>
                  <a:lnTo>
                    <a:pt x="418973" y="968120"/>
                  </a:lnTo>
                  <a:lnTo>
                    <a:pt x="838708" y="726059"/>
                  </a:lnTo>
                  <a:lnTo>
                    <a:pt x="838708" y="241934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72576" y="303656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4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72576" y="303656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4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42334" y="1682953"/>
            <a:ext cx="2344420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0" spc="575" dirty="0"/>
              <a:t>Task</a:t>
            </a:r>
            <a:r>
              <a:rPr sz="6500" spc="-229" dirty="0"/>
              <a:t> </a:t>
            </a:r>
            <a:r>
              <a:rPr sz="6500" spc="-910" dirty="0"/>
              <a:t>1</a:t>
            </a:r>
            <a:endParaRPr sz="6500"/>
          </a:p>
        </p:txBody>
      </p:sp>
      <p:sp>
        <p:nvSpPr>
          <p:cNvPr id="3" name="object 3"/>
          <p:cNvSpPr txBox="1"/>
          <p:nvPr/>
        </p:nvSpPr>
        <p:spPr>
          <a:xfrm>
            <a:off x="3942334" y="2904235"/>
            <a:ext cx="4303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Data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Analysis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of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Purchase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Behavior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193" y="1769364"/>
            <a:ext cx="2523490" cy="3383915"/>
            <a:chOff x="84193" y="1769364"/>
            <a:chExt cx="2523490" cy="3383915"/>
          </a:xfrm>
        </p:grpSpPr>
        <p:sp>
          <p:nvSpPr>
            <p:cNvPr id="5" name="object 5"/>
            <p:cNvSpPr/>
            <p:nvPr/>
          </p:nvSpPr>
          <p:spPr>
            <a:xfrm>
              <a:off x="84193" y="404176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4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704" y="968120"/>
                  </a:lnTo>
                  <a:lnTo>
                    <a:pt x="838715" y="726097"/>
                  </a:lnTo>
                  <a:lnTo>
                    <a:pt x="838715" y="242036"/>
                  </a:lnTo>
                  <a:lnTo>
                    <a:pt x="41970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232" y="22752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9709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474" y="177888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96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696" y="968121"/>
                  </a:lnTo>
                  <a:lnTo>
                    <a:pt x="838708" y="726059"/>
                  </a:lnTo>
                  <a:lnTo>
                    <a:pt x="838708" y="241935"/>
                  </a:lnTo>
                  <a:lnTo>
                    <a:pt x="419696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1474" y="177888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96" y="0"/>
                  </a:moveTo>
                  <a:lnTo>
                    <a:pt x="838708" y="241935"/>
                  </a:lnTo>
                  <a:lnTo>
                    <a:pt x="838708" y="726059"/>
                  </a:lnTo>
                  <a:lnTo>
                    <a:pt x="419696" y="968121"/>
                  </a:lnTo>
                  <a:lnTo>
                    <a:pt x="0" y="726059"/>
                  </a:lnTo>
                  <a:lnTo>
                    <a:pt x="0" y="241935"/>
                  </a:lnTo>
                  <a:lnTo>
                    <a:pt x="419696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0182" y="26512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46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46" y="968121"/>
                  </a:lnTo>
                  <a:lnTo>
                    <a:pt x="838746" y="726059"/>
                  </a:lnTo>
                  <a:lnTo>
                    <a:pt x="838746" y="242062"/>
                  </a:lnTo>
                  <a:lnTo>
                    <a:pt x="419646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0182" y="26512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46" y="0"/>
                  </a:moveTo>
                  <a:lnTo>
                    <a:pt x="838746" y="242062"/>
                  </a:lnTo>
                  <a:lnTo>
                    <a:pt x="838746" y="726059"/>
                  </a:lnTo>
                  <a:lnTo>
                    <a:pt x="419646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46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59203" y="404514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4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734" y="968121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542" y="35576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0"/>
                  </a:moveTo>
                  <a:lnTo>
                    <a:pt x="0" y="242062"/>
                  </a:lnTo>
                  <a:lnTo>
                    <a:pt x="0" y="726135"/>
                  </a:lnTo>
                  <a:lnTo>
                    <a:pt x="419709" y="968171"/>
                  </a:lnTo>
                  <a:lnTo>
                    <a:pt x="838720" y="726135"/>
                  </a:lnTo>
                  <a:lnTo>
                    <a:pt x="838720" y="242062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542" y="35576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968171"/>
                  </a:moveTo>
                  <a:lnTo>
                    <a:pt x="838720" y="726135"/>
                  </a:lnTo>
                  <a:lnTo>
                    <a:pt x="838720" y="242062"/>
                  </a:lnTo>
                  <a:lnTo>
                    <a:pt x="419709" y="0"/>
                  </a:lnTo>
                  <a:lnTo>
                    <a:pt x="0" y="242062"/>
                  </a:lnTo>
                  <a:lnTo>
                    <a:pt x="0" y="726135"/>
                  </a:lnTo>
                  <a:lnTo>
                    <a:pt x="419709" y="96817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59203" y="4500765"/>
              <a:ext cx="838835" cy="643255"/>
            </a:xfrm>
            <a:custGeom>
              <a:avLst/>
              <a:gdLst/>
              <a:ahLst/>
              <a:cxnLst/>
              <a:rect l="l" t="t" r="r" b="b"/>
              <a:pathLst>
                <a:path w="838835" h="643254">
                  <a:moveTo>
                    <a:pt x="419607" y="0"/>
                  </a:moveTo>
                  <a:lnTo>
                    <a:pt x="0" y="242036"/>
                  </a:lnTo>
                  <a:lnTo>
                    <a:pt x="0" y="642734"/>
                  </a:lnTo>
                  <a:lnTo>
                    <a:pt x="838707" y="642734"/>
                  </a:lnTo>
                  <a:lnTo>
                    <a:pt x="838707" y="242036"/>
                  </a:lnTo>
                  <a:lnTo>
                    <a:pt x="4196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9203" y="4500765"/>
              <a:ext cx="838835" cy="643255"/>
            </a:xfrm>
            <a:custGeom>
              <a:avLst/>
              <a:gdLst/>
              <a:ahLst/>
              <a:cxnLst/>
              <a:rect l="l" t="t" r="r" b="b"/>
              <a:pathLst>
                <a:path w="838835" h="643254">
                  <a:moveTo>
                    <a:pt x="838707" y="642734"/>
                  </a:moveTo>
                  <a:lnTo>
                    <a:pt x="838707" y="242036"/>
                  </a:lnTo>
                  <a:lnTo>
                    <a:pt x="419607" y="0"/>
                  </a:lnTo>
                  <a:lnTo>
                    <a:pt x="0" y="242036"/>
                  </a:lnTo>
                  <a:lnTo>
                    <a:pt x="0" y="64273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84059" y="-9525"/>
            <a:ext cx="2453005" cy="2462530"/>
            <a:chOff x="984059" y="-9525"/>
            <a:chExt cx="2453005" cy="2462530"/>
          </a:xfrm>
        </p:grpSpPr>
        <p:sp>
          <p:nvSpPr>
            <p:cNvPr id="17" name="object 17"/>
            <p:cNvSpPr/>
            <p:nvPr/>
          </p:nvSpPr>
          <p:spPr>
            <a:xfrm>
              <a:off x="993584" y="456945"/>
              <a:ext cx="1885950" cy="1473835"/>
            </a:xfrm>
            <a:custGeom>
              <a:avLst/>
              <a:gdLst/>
              <a:ahLst/>
              <a:cxnLst/>
              <a:rect l="l" t="t" r="r" b="b"/>
              <a:pathLst>
                <a:path w="1885950" h="1473835">
                  <a:moveTo>
                    <a:pt x="838644" y="242062"/>
                  </a:moveTo>
                  <a:lnTo>
                    <a:pt x="419671" y="0"/>
                  </a:lnTo>
                  <a:lnTo>
                    <a:pt x="0" y="242062"/>
                  </a:lnTo>
                  <a:lnTo>
                    <a:pt x="0" y="726059"/>
                  </a:lnTo>
                  <a:lnTo>
                    <a:pt x="419671" y="968121"/>
                  </a:lnTo>
                  <a:lnTo>
                    <a:pt x="838644" y="726059"/>
                  </a:lnTo>
                  <a:lnTo>
                    <a:pt x="838644" y="242062"/>
                  </a:lnTo>
                  <a:close/>
                </a:path>
                <a:path w="1885950" h="1473835">
                  <a:moveTo>
                    <a:pt x="1885759" y="747268"/>
                  </a:moveTo>
                  <a:lnTo>
                    <a:pt x="1466659" y="505206"/>
                  </a:lnTo>
                  <a:lnTo>
                    <a:pt x="1047051" y="747268"/>
                  </a:lnTo>
                  <a:lnTo>
                    <a:pt x="1047051" y="1231265"/>
                  </a:lnTo>
                  <a:lnTo>
                    <a:pt x="1466659" y="1473327"/>
                  </a:lnTo>
                  <a:lnTo>
                    <a:pt x="1885759" y="1231265"/>
                  </a:lnTo>
                  <a:lnTo>
                    <a:pt x="1885759" y="747268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3584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71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71" y="968121"/>
                  </a:lnTo>
                  <a:lnTo>
                    <a:pt x="838771" y="726059"/>
                  </a:lnTo>
                  <a:lnTo>
                    <a:pt x="838771" y="242062"/>
                  </a:lnTo>
                  <a:lnTo>
                    <a:pt x="419671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3584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71" y="0"/>
                  </a:moveTo>
                  <a:lnTo>
                    <a:pt x="838771" y="242062"/>
                  </a:lnTo>
                  <a:lnTo>
                    <a:pt x="838771" y="726059"/>
                  </a:lnTo>
                  <a:lnTo>
                    <a:pt x="419671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71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11756" y="147497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07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7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6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11756" y="147497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07" y="0"/>
                  </a:moveTo>
                  <a:lnTo>
                    <a:pt x="838707" y="242062"/>
                  </a:lnTo>
                  <a:lnTo>
                    <a:pt x="838707" y="726059"/>
                  </a:lnTo>
                  <a:lnTo>
                    <a:pt x="419607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7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7911" y="0"/>
              <a:ext cx="838835" cy="346075"/>
            </a:xfrm>
            <a:custGeom>
              <a:avLst/>
              <a:gdLst/>
              <a:ahLst/>
              <a:cxnLst/>
              <a:rect l="l" t="t" r="r" b="b"/>
              <a:pathLst>
                <a:path w="838835" h="346075">
                  <a:moveTo>
                    <a:pt x="838708" y="0"/>
                  </a:moveTo>
                  <a:lnTo>
                    <a:pt x="0" y="0"/>
                  </a:lnTo>
                  <a:lnTo>
                    <a:pt x="0" y="103759"/>
                  </a:lnTo>
                  <a:lnTo>
                    <a:pt x="419607" y="345821"/>
                  </a:lnTo>
                  <a:lnTo>
                    <a:pt x="838708" y="103759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80716" y="0"/>
              <a:ext cx="838835" cy="829944"/>
            </a:xfrm>
            <a:custGeom>
              <a:avLst/>
              <a:gdLst/>
              <a:ahLst/>
              <a:cxnLst/>
              <a:rect l="l" t="t" r="r" b="b"/>
              <a:pathLst>
                <a:path w="838835" h="829944">
                  <a:moveTo>
                    <a:pt x="659022" y="0"/>
                  </a:moveTo>
                  <a:lnTo>
                    <a:pt x="180012" y="0"/>
                  </a:lnTo>
                  <a:lnTo>
                    <a:pt x="0" y="103759"/>
                  </a:lnTo>
                  <a:lnTo>
                    <a:pt x="0" y="587883"/>
                  </a:lnTo>
                  <a:lnTo>
                    <a:pt x="419734" y="829945"/>
                  </a:lnTo>
                  <a:lnTo>
                    <a:pt x="838707" y="587883"/>
                  </a:lnTo>
                  <a:lnTo>
                    <a:pt x="838707" y="103759"/>
                  </a:lnTo>
                  <a:lnTo>
                    <a:pt x="659022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0716" y="0"/>
              <a:ext cx="838835" cy="829944"/>
            </a:xfrm>
            <a:custGeom>
              <a:avLst/>
              <a:gdLst/>
              <a:ahLst/>
              <a:cxnLst/>
              <a:rect l="l" t="t" r="r" b="b"/>
              <a:pathLst>
                <a:path w="838835" h="829944">
                  <a:moveTo>
                    <a:pt x="659022" y="0"/>
                  </a:moveTo>
                  <a:lnTo>
                    <a:pt x="838707" y="103759"/>
                  </a:lnTo>
                  <a:lnTo>
                    <a:pt x="838707" y="587883"/>
                  </a:lnTo>
                  <a:lnTo>
                    <a:pt x="419734" y="829945"/>
                  </a:lnTo>
                  <a:lnTo>
                    <a:pt x="0" y="587883"/>
                  </a:lnTo>
                  <a:lnTo>
                    <a:pt x="0" y="103759"/>
                  </a:lnTo>
                  <a:lnTo>
                    <a:pt x="180012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-9525" y="529970"/>
            <a:ext cx="732790" cy="1330325"/>
            <a:chOff x="-9525" y="529970"/>
            <a:chExt cx="732790" cy="1330325"/>
          </a:xfrm>
        </p:grpSpPr>
        <p:sp>
          <p:nvSpPr>
            <p:cNvPr id="26" name="object 26"/>
            <p:cNvSpPr/>
            <p:nvPr/>
          </p:nvSpPr>
          <p:spPr>
            <a:xfrm>
              <a:off x="0" y="1032750"/>
              <a:ext cx="297180" cy="827405"/>
            </a:xfrm>
            <a:custGeom>
              <a:avLst/>
              <a:gdLst/>
              <a:ahLst/>
              <a:cxnLst/>
              <a:rect l="l" t="t" r="r" b="b"/>
              <a:pathLst>
                <a:path w="297180" h="827405">
                  <a:moveTo>
                    <a:pt x="0" y="0"/>
                  </a:moveTo>
                  <a:lnTo>
                    <a:pt x="0" y="826924"/>
                  </a:lnTo>
                  <a:lnTo>
                    <a:pt x="296799" y="655460"/>
                  </a:lnTo>
                  <a:lnTo>
                    <a:pt x="296799" y="171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539495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4233" y="0"/>
                  </a:moveTo>
                  <a:lnTo>
                    <a:pt x="0" y="169696"/>
                  </a:lnTo>
                  <a:lnTo>
                    <a:pt x="0" y="798424"/>
                  </a:lnTo>
                  <a:lnTo>
                    <a:pt x="294233" y="968120"/>
                  </a:lnTo>
                  <a:lnTo>
                    <a:pt x="713232" y="726058"/>
                  </a:lnTo>
                  <a:lnTo>
                    <a:pt x="713232" y="242062"/>
                  </a:lnTo>
                  <a:lnTo>
                    <a:pt x="29423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539495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169696"/>
                  </a:moveTo>
                  <a:lnTo>
                    <a:pt x="294233" y="0"/>
                  </a:lnTo>
                  <a:lnTo>
                    <a:pt x="713232" y="242062"/>
                  </a:lnTo>
                  <a:lnTo>
                    <a:pt x="713232" y="726058"/>
                  </a:lnTo>
                  <a:lnTo>
                    <a:pt x="294233" y="968120"/>
                  </a:lnTo>
                  <a:lnTo>
                    <a:pt x="0" y="79842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367660" y="2651251"/>
            <a:ext cx="1236345" cy="1521460"/>
            <a:chOff x="2367660" y="2651251"/>
            <a:chExt cx="1236345" cy="1521460"/>
          </a:xfrm>
        </p:grpSpPr>
        <p:sp>
          <p:nvSpPr>
            <p:cNvPr id="30" name="object 30"/>
            <p:cNvSpPr/>
            <p:nvPr/>
          </p:nvSpPr>
          <p:spPr>
            <a:xfrm>
              <a:off x="2367660" y="26512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4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734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55518" y="31948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5" y="0"/>
                  </a:moveTo>
                  <a:lnTo>
                    <a:pt x="0" y="241935"/>
                  </a:lnTo>
                  <a:lnTo>
                    <a:pt x="0" y="726033"/>
                  </a:lnTo>
                  <a:lnTo>
                    <a:pt x="419735" y="968057"/>
                  </a:lnTo>
                  <a:lnTo>
                    <a:pt x="838707" y="726033"/>
                  </a:lnTo>
                  <a:lnTo>
                    <a:pt x="838707" y="241935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55518" y="31948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5" y="0"/>
                  </a:moveTo>
                  <a:lnTo>
                    <a:pt x="838707" y="241935"/>
                  </a:lnTo>
                  <a:lnTo>
                    <a:pt x="838707" y="726033"/>
                  </a:lnTo>
                  <a:lnTo>
                    <a:pt x="419735" y="968057"/>
                  </a:lnTo>
                  <a:lnTo>
                    <a:pt x="0" y="726033"/>
                  </a:lnTo>
                  <a:lnTo>
                    <a:pt x="0" y="241935"/>
                  </a:lnTo>
                  <a:lnTo>
                    <a:pt x="419735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3967353" y="1655445"/>
            <a:ext cx="374015" cy="0"/>
          </a:xfrm>
          <a:custGeom>
            <a:avLst/>
            <a:gdLst/>
            <a:ahLst/>
            <a:cxnLst/>
            <a:rect l="l" t="t" r="r" b="b"/>
            <a:pathLst>
              <a:path w="374014">
                <a:moveTo>
                  <a:pt x="0" y="0"/>
                </a:moveTo>
                <a:lnTo>
                  <a:pt x="373507" y="0"/>
                </a:lnTo>
              </a:path>
            </a:pathLst>
          </a:custGeom>
          <a:ln w="19050">
            <a:solidFill>
              <a:srgbClr val="3846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10" h="968375">
                <a:moveTo>
                  <a:pt x="282168" y="0"/>
                </a:moveTo>
                <a:lnTo>
                  <a:pt x="0" y="162927"/>
                </a:lnTo>
                <a:lnTo>
                  <a:pt x="0" y="805095"/>
                </a:lnTo>
                <a:lnTo>
                  <a:pt x="282168" y="968082"/>
                </a:lnTo>
                <a:lnTo>
                  <a:pt x="701878" y="726058"/>
                </a:lnTo>
                <a:lnTo>
                  <a:pt x="701878" y="241934"/>
                </a:lnTo>
                <a:lnTo>
                  <a:pt x="282168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4029796"/>
            <a:ext cx="1031875" cy="1113790"/>
            <a:chOff x="-9525" y="4029796"/>
            <a:chExt cx="1031875" cy="1113790"/>
          </a:xfrm>
        </p:grpSpPr>
        <p:sp>
          <p:nvSpPr>
            <p:cNvPr id="4" name="object 4"/>
            <p:cNvSpPr/>
            <p:nvPr/>
          </p:nvSpPr>
          <p:spPr>
            <a:xfrm>
              <a:off x="183413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5" h="602614">
                  <a:moveTo>
                    <a:pt x="419011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0" y="695601"/>
                  </a:lnTo>
                  <a:lnTo>
                    <a:pt x="183413" y="589828"/>
                  </a:lnTo>
                  <a:lnTo>
                    <a:pt x="183413" y="105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183413" y="105767"/>
                  </a:lnTo>
                  <a:lnTo>
                    <a:pt x="183413" y="589828"/>
                  </a:lnTo>
                  <a:lnTo>
                    <a:pt x="0" y="69560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44207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09" h="968375">
                <a:moveTo>
                  <a:pt x="419734" y="0"/>
                </a:moveTo>
                <a:lnTo>
                  <a:pt x="0" y="241934"/>
                </a:lnTo>
                <a:lnTo>
                  <a:pt x="0" y="726058"/>
                </a:lnTo>
                <a:lnTo>
                  <a:pt x="419734" y="968082"/>
                </a:lnTo>
                <a:lnTo>
                  <a:pt x="701928" y="805070"/>
                </a:lnTo>
                <a:lnTo>
                  <a:pt x="701928" y="162952"/>
                </a:lnTo>
                <a:lnTo>
                  <a:pt x="419734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09154" y="4029821"/>
            <a:ext cx="1444625" cy="1123315"/>
            <a:chOff x="7709154" y="4029821"/>
            <a:chExt cx="1444625" cy="1123315"/>
          </a:xfrm>
        </p:grpSpPr>
        <p:sp>
          <p:nvSpPr>
            <p:cNvPr id="9" name="object 9"/>
            <p:cNvSpPr/>
            <p:nvPr/>
          </p:nvSpPr>
          <p:spPr>
            <a:xfrm>
              <a:off x="8121904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4" h="602614">
                  <a:moveTo>
                    <a:pt x="419735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419735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07" y="363816"/>
                  </a:lnTo>
                  <a:lnTo>
                    <a:pt x="838707" y="24203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838707" y="363816"/>
                  </a:moveTo>
                  <a:lnTo>
                    <a:pt x="838707" y="242030"/>
                  </a:lnTo>
                  <a:lnTo>
                    <a:pt x="419735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7062" y="4770158"/>
            <a:ext cx="857885" cy="382905"/>
            <a:chOff x="577062" y="4770158"/>
            <a:chExt cx="857885" cy="382905"/>
          </a:xfrm>
        </p:grpSpPr>
        <p:sp>
          <p:nvSpPr>
            <p:cNvPr id="15" name="object 15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419709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33" y="363816"/>
                  </a:lnTo>
                  <a:lnTo>
                    <a:pt x="838733" y="242030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838733" y="363816"/>
                  </a:moveTo>
                  <a:lnTo>
                    <a:pt x="838733" y="242030"/>
                  </a:lnTo>
                  <a:lnTo>
                    <a:pt x="419709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776220" y="502665"/>
            <a:ext cx="359346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195" dirty="0"/>
              <a:t>Project</a:t>
            </a:r>
            <a:r>
              <a:rPr sz="3500" spc="-140" dirty="0"/>
              <a:t> </a:t>
            </a:r>
            <a:r>
              <a:rPr sz="3500" spc="200" dirty="0"/>
              <a:t>Overview</a:t>
            </a:r>
            <a:endParaRPr sz="3500"/>
          </a:p>
        </p:txBody>
      </p:sp>
      <p:sp>
        <p:nvSpPr>
          <p:cNvPr id="18" name="object 18"/>
          <p:cNvSpPr txBox="1"/>
          <p:nvPr/>
        </p:nvSpPr>
        <p:spPr>
          <a:xfrm>
            <a:off x="1059281" y="1611963"/>
            <a:ext cx="7162165" cy="13639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5"/>
              </a:spcBef>
              <a:buSzPct val="70000"/>
              <a:buFont typeface="Arial"/>
              <a:buChar char="•"/>
              <a:tabLst>
                <a:tab pos="354965" algn="l"/>
              </a:tabLst>
            </a:pPr>
            <a:r>
              <a:rPr sz="2000" b="1" u="sng" spc="1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Project</a:t>
            </a:r>
            <a:r>
              <a:rPr sz="2000" b="1" u="sng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Source:</a:t>
            </a:r>
            <a:r>
              <a:rPr sz="2000" b="1" u="sng" spc="7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u="none" spc="55" dirty="0">
                <a:solidFill>
                  <a:srgbClr val="384654"/>
                </a:solidFill>
                <a:latin typeface="Calibri"/>
                <a:cs typeface="Calibri"/>
              </a:rPr>
              <a:t>QUANTIUM</a:t>
            </a:r>
            <a:r>
              <a:rPr sz="1600" u="none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175" dirty="0">
                <a:solidFill>
                  <a:srgbClr val="384654"/>
                </a:solidFill>
                <a:latin typeface="Calibri"/>
                <a:cs typeface="Calibri"/>
              </a:rPr>
              <a:t>Job</a:t>
            </a:r>
            <a:r>
              <a:rPr sz="1600" u="none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70" dirty="0">
                <a:solidFill>
                  <a:srgbClr val="384654"/>
                </a:solidFill>
                <a:latin typeface="Calibri"/>
                <a:cs typeface="Calibri"/>
              </a:rPr>
              <a:t>Simulation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(Forage</a:t>
            </a:r>
            <a:r>
              <a:rPr sz="1600" u="none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Website)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60"/>
              </a:spcBef>
              <a:buSzPct val="70000"/>
              <a:buFont typeface="Arial"/>
              <a:buChar char="•"/>
              <a:tabLst>
                <a:tab pos="354965" algn="l"/>
              </a:tabLst>
            </a:pPr>
            <a:r>
              <a:rPr sz="2000" b="1" u="sng" spc="1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Objective:</a:t>
            </a:r>
            <a:r>
              <a:rPr sz="2000" b="1" u="sng" spc="8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u="none" spc="85" dirty="0">
                <a:solidFill>
                  <a:srgbClr val="384654"/>
                </a:solidFill>
                <a:latin typeface="Calibri"/>
                <a:cs typeface="Calibri"/>
              </a:rPr>
              <a:t>Analyze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114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114" dirty="0">
                <a:solidFill>
                  <a:srgbClr val="384654"/>
                </a:solidFill>
                <a:latin typeface="Calibri"/>
                <a:cs typeface="Calibri"/>
              </a:rPr>
              <a:t>purchase</a:t>
            </a:r>
            <a:r>
              <a:rPr sz="16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80" dirty="0">
                <a:solidFill>
                  <a:srgbClr val="384654"/>
                </a:solidFill>
                <a:latin typeface="Calibri"/>
                <a:cs typeface="Calibri"/>
              </a:rPr>
              <a:t>behavior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80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130" dirty="0">
                <a:solidFill>
                  <a:srgbClr val="384654"/>
                </a:solidFill>
                <a:latin typeface="Calibri"/>
                <a:cs typeface="Calibri"/>
              </a:rPr>
              <a:t>chips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80" dirty="0">
                <a:solidFill>
                  <a:srgbClr val="384654"/>
                </a:solidFill>
                <a:latin typeface="Calibri"/>
                <a:cs typeface="Calibri"/>
              </a:rPr>
              <a:t>industry</a:t>
            </a:r>
            <a:endParaRPr sz="1600">
              <a:latin typeface="Calibri"/>
              <a:cs typeface="Calibri"/>
            </a:endParaRPr>
          </a:p>
          <a:p>
            <a:pPr marL="355600" marR="436880" indent="-343535">
              <a:lnSpc>
                <a:spcPct val="114199"/>
              </a:lnSpc>
              <a:spcBef>
                <a:spcPts val="20"/>
              </a:spcBef>
              <a:buSzPct val="70000"/>
              <a:buFont typeface="Arial"/>
              <a:buChar char="•"/>
              <a:tabLst>
                <a:tab pos="355600" algn="l"/>
              </a:tabLst>
            </a:pPr>
            <a:r>
              <a:rPr sz="2000" b="1" u="sng" spc="17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EDA</a:t>
            </a:r>
            <a:r>
              <a:rPr sz="2000" b="1" u="sng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Performed</a:t>
            </a:r>
            <a:r>
              <a:rPr sz="2000" b="1" u="sng" spc="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0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Using:</a:t>
            </a:r>
            <a:r>
              <a:rPr sz="2000" b="1" u="sng" spc="7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Google </a:t>
            </a:r>
            <a:r>
              <a:rPr sz="1600" u="none" spc="125" dirty="0">
                <a:solidFill>
                  <a:srgbClr val="384654"/>
                </a:solidFill>
                <a:latin typeface="Calibri"/>
                <a:cs typeface="Calibri"/>
              </a:rPr>
              <a:t>Colab</a:t>
            </a:r>
            <a:r>
              <a:rPr sz="16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65" dirty="0">
                <a:solidFill>
                  <a:srgbClr val="384654"/>
                </a:solidFill>
                <a:latin typeface="Calibri"/>
                <a:cs typeface="Calibri"/>
              </a:rPr>
              <a:t>(Python,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80" dirty="0">
                <a:solidFill>
                  <a:srgbClr val="384654"/>
                </a:solidFill>
                <a:latin typeface="Calibri"/>
                <a:cs typeface="Calibri"/>
              </a:rPr>
              <a:t>Pandas,</a:t>
            </a:r>
            <a:r>
              <a:rPr sz="1600" u="none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55" dirty="0">
                <a:solidFill>
                  <a:srgbClr val="384654"/>
                </a:solidFill>
                <a:latin typeface="Calibri"/>
                <a:cs typeface="Calibri"/>
              </a:rPr>
              <a:t>NumPy, </a:t>
            </a:r>
            <a:r>
              <a:rPr sz="1600" u="none" spc="10" dirty="0">
                <a:solidFill>
                  <a:srgbClr val="384654"/>
                </a:solidFill>
                <a:latin typeface="Calibri"/>
                <a:cs typeface="Calibri"/>
              </a:rPr>
              <a:t>Matplotlib,</a:t>
            </a:r>
            <a:r>
              <a:rPr sz="1600" u="none" spc="4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90" dirty="0">
                <a:solidFill>
                  <a:srgbClr val="384654"/>
                </a:solidFill>
                <a:latin typeface="Calibri"/>
                <a:cs typeface="Calibri"/>
              </a:rPr>
              <a:t>Seaborn)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10" h="968375">
                <a:moveTo>
                  <a:pt x="282168" y="0"/>
                </a:moveTo>
                <a:lnTo>
                  <a:pt x="0" y="162927"/>
                </a:lnTo>
                <a:lnTo>
                  <a:pt x="0" y="805095"/>
                </a:lnTo>
                <a:lnTo>
                  <a:pt x="282168" y="968082"/>
                </a:lnTo>
                <a:lnTo>
                  <a:pt x="701878" y="726058"/>
                </a:lnTo>
                <a:lnTo>
                  <a:pt x="701878" y="241934"/>
                </a:lnTo>
                <a:lnTo>
                  <a:pt x="282168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4029796"/>
            <a:ext cx="1031875" cy="1113790"/>
            <a:chOff x="-9525" y="4029796"/>
            <a:chExt cx="1031875" cy="1113790"/>
          </a:xfrm>
        </p:grpSpPr>
        <p:sp>
          <p:nvSpPr>
            <p:cNvPr id="4" name="object 4"/>
            <p:cNvSpPr/>
            <p:nvPr/>
          </p:nvSpPr>
          <p:spPr>
            <a:xfrm>
              <a:off x="183413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5" h="602614">
                  <a:moveTo>
                    <a:pt x="419011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0" y="695601"/>
                  </a:lnTo>
                  <a:lnTo>
                    <a:pt x="183413" y="589828"/>
                  </a:lnTo>
                  <a:lnTo>
                    <a:pt x="183413" y="105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183413" y="105767"/>
                  </a:lnTo>
                  <a:lnTo>
                    <a:pt x="183413" y="589828"/>
                  </a:lnTo>
                  <a:lnTo>
                    <a:pt x="0" y="69560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44207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09" h="968375">
                <a:moveTo>
                  <a:pt x="419734" y="0"/>
                </a:moveTo>
                <a:lnTo>
                  <a:pt x="0" y="241934"/>
                </a:lnTo>
                <a:lnTo>
                  <a:pt x="0" y="726058"/>
                </a:lnTo>
                <a:lnTo>
                  <a:pt x="419734" y="968082"/>
                </a:lnTo>
                <a:lnTo>
                  <a:pt x="701928" y="805070"/>
                </a:lnTo>
                <a:lnTo>
                  <a:pt x="701928" y="162952"/>
                </a:lnTo>
                <a:lnTo>
                  <a:pt x="419734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09154" y="4029821"/>
            <a:ext cx="1444625" cy="1123315"/>
            <a:chOff x="7709154" y="4029821"/>
            <a:chExt cx="1444625" cy="1123315"/>
          </a:xfrm>
        </p:grpSpPr>
        <p:sp>
          <p:nvSpPr>
            <p:cNvPr id="9" name="object 9"/>
            <p:cNvSpPr/>
            <p:nvPr/>
          </p:nvSpPr>
          <p:spPr>
            <a:xfrm>
              <a:off x="8121904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4" h="602614">
                  <a:moveTo>
                    <a:pt x="419735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419735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07" y="363816"/>
                  </a:lnTo>
                  <a:lnTo>
                    <a:pt x="838707" y="24203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838707" y="363816"/>
                  </a:moveTo>
                  <a:lnTo>
                    <a:pt x="838707" y="242030"/>
                  </a:lnTo>
                  <a:lnTo>
                    <a:pt x="419735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7062" y="4770158"/>
            <a:ext cx="857885" cy="382905"/>
            <a:chOff x="577062" y="4770158"/>
            <a:chExt cx="857885" cy="382905"/>
          </a:xfrm>
        </p:grpSpPr>
        <p:sp>
          <p:nvSpPr>
            <p:cNvPr id="15" name="object 15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419709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33" y="363816"/>
                  </a:lnTo>
                  <a:lnTo>
                    <a:pt x="838733" y="242030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838733" y="363816"/>
                  </a:moveTo>
                  <a:lnTo>
                    <a:pt x="838733" y="242030"/>
                  </a:lnTo>
                  <a:lnTo>
                    <a:pt x="419709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565905" y="364693"/>
            <a:ext cx="201295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170" dirty="0"/>
              <a:t>Objective</a:t>
            </a:r>
            <a:endParaRPr sz="3500"/>
          </a:p>
        </p:txBody>
      </p:sp>
      <p:sp>
        <p:nvSpPr>
          <p:cNvPr id="18" name="object 18"/>
          <p:cNvSpPr txBox="1"/>
          <p:nvPr/>
        </p:nvSpPr>
        <p:spPr>
          <a:xfrm>
            <a:off x="919073" y="1200149"/>
            <a:ext cx="712406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6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Goal:</a:t>
            </a:r>
            <a:endParaRPr sz="1600">
              <a:latin typeface="Calibri"/>
              <a:cs typeface="Calibri"/>
            </a:endParaRPr>
          </a:p>
          <a:p>
            <a:pPr marL="352425" indent="-33972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352425" algn="l"/>
              </a:tabLst>
            </a:pP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Analyze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purchase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behavior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using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transaction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datasets.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  <a:tab pos="352425" algn="l"/>
              </a:tabLst>
            </a:pPr>
            <a:r>
              <a:rPr sz="1600" dirty="0">
                <a:solidFill>
                  <a:srgbClr val="384654"/>
                </a:solidFill>
                <a:latin typeface="Arial"/>
                <a:cs typeface="Arial"/>
              </a:rPr>
              <a:t>	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Identify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trends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spending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habits,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segmentation,</a:t>
            </a:r>
            <a:r>
              <a:rPr sz="1600" spc="1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product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preferences.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u="sng" spc="1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</a:t>
            </a:r>
            <a:r>
              <a:rPr sz="1600" b="1" u="sng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14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Sources:</a:t>
            </a:r>
            <a:endParaRPr sz="1600">
              <a:latin typeface="Calibri"/>
              <a:cs typeface="Calibri"/>
            </a:endParaRPr>
          </a:p>
          <a:p>
            <a:pPr marL="299085" marR="46355" indent="-287020">
              <a:lnSpc>
                <a:spcPct val="100000"/>
              </a:lnSpc>
              <a:spcBef>
                <a:spcPts val="1925"/>
              </a:spcBef>
              <a:buChar char="•"/>
              <a:tabLst>
                <a:tab pos="299085" algn="l"/>
                <a:tab pos="346075" algn="l"/>
              </a:tabLst>
            </a:pPr>
            <a:r>
              <a:rPr sz="1600" dirty="0">
                <a:solidFill>
                  <a:srgbClr val="384654"/>
                </a:solidFill>
                <a:latin typeface="Arial"/>
                <a:cs typeface="Arial"/>
              </a:rPr>
              <a:t>	</a:t>
            </a:r>
            <a:r>
              <a:rPr sz="1600" b="1" spc="135" dirty="0">
                <a:solidFill>
                  <a:srgbClr val="384654"/>
                </a:solidFill>
                <a:latin typeface="Calibri"/>
                <a:cs typeface="Calibri"/>
              </a:rPr>
              <a:t>purchase_behaviour.csv</a:t>
            </a:r>
            <a:r>
              <a:rPr sz="1600" b="1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215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Contains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70" dirty="0">
                <a:solidFill>
                  <a:srgbClr val="384654"/>
                </a:solidFill>
                <a:latin typeface="Calibri"/>
                <a:cs typeface="Calibri"/>
              </a:rPr>
              <a:t>72,637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4" dirty="0">
                <a:solidFill>
                  <a:srgbClr val="384654"/>
                </a:solidFill>
                <a:latin typeface="Calibri"/>
                <a:cs typeface="Calibri"/>
              </a:rPr>
              <a:t>records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,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mapping 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their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purchasing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category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(Mainstream,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Budget,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Premium).</a:t>
            </a:r>
            <a:endParaRPr sz="1600">
              <a:latin typeface="Calibri"/>
              <a:cs typeface="Calibri"/>
            </a:endParaRPr>
          </a:p>
          <a:p>
            <a:pPr marL="346075" indent="-333375">
              <a:lnSpc>
                <a:spcPct val="100000"/>
              </a:lnSpc>
              <a:buFont typeface="Arial"/>
              <a:buChar char="•"/>
              <a:tabLst>
                <a:tab pos="346075" algn="l"/>
              </a:tabLst>
            </a:pPr>
            <a:r>
              <a:rPr sz="1600" b="1" spc="135" dirty="0">
                <a:solidFill>
                  <a:srgbClr val="384654"/>
                </a:solidFill>
                <a:latin typeface="Calibri"/>
                <a:cs typeface="Calibri"/>
              </a:rPr>
              <a:t>transaction_data.csv</a:t>
            </a:r>
            <a:r>
              <a:rPr sz="1600" b="1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220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Contains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35" dirty="0">
                <a:solidFill>
                  <a:srgbClr val="384654"/>
                </a:solidFill>
                <a:latin typeface="Calibri"/>
                <a:cs typeface="Calibri"/>
              </a:rPr>
              <a:t>264,836</a:t>
            </a:r>
            <a:r>
              <a:rPr sz="1600" b="1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4" dirty="0">
                <a:solidFill>
                  <a:srgbClr val="384654"/>
                </a:solidFill>
                <a:latin typeface="Calibri"/>
                <a:cs typeface="Calibri"/>
              </a:rPr>
              <a:t>records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,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detailing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individual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transactions,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including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details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purchase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amounts.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10" h="968375">
                <a:moveTo>
                  <a:pt x="282168" y="0"/>
                </a:moveTo>
                <a:lnTo>
                  <a:pt x="0" y="162927"/>
                </a:lnTo>
                <a:lnTo>
                  <a:pt x="0" y="805095"/>
                </a:lnTo>
                <a:lnTo>
                  <a:pt x="282168" y="968082"/>
                </a:lnTo>
                <a:lnTo>
                  <a:pt x="701878" y="726058"/>
                </a:lnTo>
                <a:lnTo>
                  <a:pt x="701878" y="241934"/>
                </a:lnTo>
                <a:lnTo>
                  <a:pt x="282168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4029796"/>
            <a:ext cx="1031875" cy="1113790"/>
            <a:chOff x="-9525" y="4029796"/>
            <a:chExt cx="1031875" cy="1113790"/>
          </a:xfrm>
        </p:grpSpPr>
        <p:sp>
          <p:nvSpPr>
            <p:cNvPr id="4" name="object 4"/>
            <p:cNvSpPr/>
            <p:nvPr/>
          </p:nvSpPr>
          <p:spPr>
            <a:xfrm>
              <a:off x="183413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5" h="602614">
                  <a:moveTo>
                    <a:pt x="419011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0" y="695601"/>
                  </a:lnTo>
                  <a:lnTo>
                    <a:pt x="183413" y="589828"/>
                  </a:lnTo>
                  <a:lnTo>
                    <a:pt x="183413" y="105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183413" y="105767"/>
                  </a:lnTo>
                  <a:lnTo>
                    <a:pt x="183413" y="589828"/>
                  </a:lnTo>
                  <a:lnTo>
                    <a:pt x="0" y="69560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44207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09" h="968375">
                <a:moveTo>
                  <a:pt x="419734" y="0"/>
                </a:moveTo>
                <a:lnTo>
                  <a:pt x="0" y="241934"/>
                </a:lnTo>
                <a:lnTo>
                  <a:pt x="0" y="726058"/>
                </a:lnTo>
                <a:lnTo>
                  <a:pt x="419734" y="968082"/>
                </a:lnTo>
                <a:lnTo>
                  <a:pt x="701928" y="805070"/>
                </a:lnTo>
                <a:lnTo>
                  <a:pt x="701928" y="162952"/>
                </a:lnTo>
                <a:lnTo>
                  <a:pt x="419734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09154" y="4029821"/>
            <a:ext cx="1444625" cy="1123315"/>
            <a:chOff x="7709154" y="4029821"/>
            <a:chExt cx="1444625" cy="1123315"/>
          </a:xfrm>
        </p:grpSpPr>
        <p:sp>
          <p:nvSpPr>
            <p:cNvPr id="9" name="object 9"/>
            <p:cNvSpPr/>
            <p:nvPr/>
          </p:nvSpPr>
          <p:spPr>
            <a:xfrm>
              <a:off x="8121904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4" h="602614">
                  <a:moveTo>
                    <a:pt x="419735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419735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07" y="363816"/>
                  </a:lnTo>
                  <a:lnTo>
                    <a:pt x="838707" y="24203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838707" y="363816"/>
                  </a:moveTo>
                  <a:lnTo>
                    <a:pt x="838707" y="242030"/>
                  </a:lnTo>
                  <a:lnTo>
                    <a:pt x="419735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7062" y="4770158"/>
            <a:ext cx="857885" cy="382905"/>
            <a:chOff x="577062" y="4770158"/>
            <a:chExt cx="857885" cy="382905"/>
          </a:xfrm>
        </p:grpSpPr>
        <p:sp>
          <p:nvSpPr>
            <p:cNvPr id="15" name="object 15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419709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33" y="363816"/>
                  </a:lnTo>
                  <a:lnTo>
                    <a:pt x="838733" y="242030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838733" y="363816"/>
                  </a:moveTo>
                  <a:lnTo>
                    <a:pt x="838733" y="242030"/>
                  </a:lnTo>
                  <a:lnTo>
                    <a:pt x="419709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069082" y="502665"/>
            <a:ext cx="300418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250" dirty="0"/>
              <a:t>Datasets</a:t>
            </a:r>
            <a:r>
              <a:rPr sz="3500" spc="-140" dirty="0"/>
              <a:t> </a:t>
            </a:r>
            <a:r>
              <a:rPr sz="3500" spc="160" dirty="0"/>
              <a:t>Used</a:t>
            </a:r>
            <a:endParaRPr sz="3500"/>
          </a:p>
        </p:txBody>
      </p:sp>
      <p:sp>
        <p:nvSpPr>
          <p:cNvPr id="18" name="object 18"/>
          <p:cNvSpPr txBox="1"/>
          <p:nvPr/>
        </p:nvSpPr>
        <p:spPr>
          <a:xfrm>
            <a:off x="1059281" y="1368011"/>
            <a:ext cx="6524625" cy="25253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u="sng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Dataset</a:t>
            </a:r>
            <a:r>
              <a:rPr sz="1600" b="1" u="sng" spc="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7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1:</a:t>
            </a:r>
            <a:r>
              <a:rPr sz="1600" b="1" u="sng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Purchase</a:t>
            </a:r>
            <a:r>
              <a:rPr sz="1600" b="1" u="sng" spc="6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8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Behavior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9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125" dirty="0">
                <a:solidFill>
                  <a:srgbClr val="384654"/>
                </a:solidFill>
                <a:latin typeface="Calibri"/>
                <a:cs typeface="Calibri"/>
              </a:rPr>
              <a:t>Records:</a:t>
            </a:r>
            <a:r>
              <a:rPr sz="1600" b="1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45" dirty="0">
                <a:solidFill>
                  <a:srgbClr val="384654"/>
                </a:solidFill>
                <a:latin typeface="Calibri"/>
                <a:cs typeface="Calibri"/>
              </a:rPr>
              <a:t>72,637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120" dirty="0">
                <a:solidFill>
                  <a:srgbClr val="384654"/>
                </a:solidFill>
                <a:latin typeface="Calibri"/>
                <a:cs typeface="Calibri"/>
              </a:rPr>
              <a:t>Columns:</a:t>
            </a:r>
            <a:r>
              <a:rPr sz="1600" b="1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Loyalty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40" dirty="0">
                <a:solidFill>
                  <a:srgbClr val="384654"/>
                </a:solidFill>
                <a:latin typeface="Calibri"/>
                <a:cs typeface="Calibri"/>
              </a:rPr>
              <a:t>Card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No,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Life-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stage,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Premium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Format:</a:t>
            </a:r>
            <a:r>
              <a:rPr sz="1600" b="1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80" dirty="0">
                <a:solidFill>
                  <a:srgbClr val="384654"/>
                </a:solidFill>
                <a:latin typeface="Calibri"/>
                <a:cs typeface="Calibri"/>
              </a:rPr>
              <a:t>CSV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384654"/>
              </a:buClr>
              <a:buFont typeface="Arial"/>
              <a:buChar char="•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u="sng" spc="1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Dataset</a:t>
            </a:r>
            <a:r>
              <a:rPr sz="1600" b="1" u="sng" spc="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2:</a:t>
            </a:r>
            <a:r>
              <a:rPr sz="1600" b="1" u="sng" spc="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Transaction</a:t>
            </a:r>
            <a:r>
              <a:rPr sz="1600" b="1" u="sng" spc="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0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100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125" dirty="0">
                <a:solidFill>
                  <a:srgbClr val="384654"/>
                </a:solidFill>
                <a:latin typeface="Calibri"/>
                <a:cs typeface="Calibri"/>
              </a:rPr>
              <a:t>Records:</a:t>
            </a:r>
            <a:r>
              <a:rPr sz="1600" b="1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264,836</a:t>
            </a:r>
            <a:endParaRPr sz="1600">
              <a:latin typeface="Calibri"/>
              <a:cs typeface="Calibri"/>
            </a:endParaRPr>
          </a:p>
          <a:p>
            <a:pPr marL="615950" marR="5080" indent="-287020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120" dirty="0">
                <a:solidFill>
                  <a:srgbClr val="384654"/>
                </a:solidFill>
                <a:latin typeface="Calibri"/>
                <a:cs typeface="Calibri"/>
              </a:rPr>
              <a:t>Columns:</a:t>
            </a:r>
            <a:r>
              <a:rPr sz="1600" b="1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Date,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No,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Loyalty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40" dirty="0">
                <a:solidFill>
                  <a:srgbClr val="384654"/>
                </a:solidFill>
                <a:latin typeface="Calibri"/>
                <a:cs typeface="Calibri"/>
              </a:rPr>
              <a:t>Card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Number,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Transaction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84654"/>
                </a:solidFill>
                <a:latin typeface="Calibri"/>
                <a:cs typeface="Calibri"/>
              </a:rPr>
              <a:t>ID,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No,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Name,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Quantity,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Total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Sales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Format:</a:t>
            </a:r>
            <a:r>
              <a:rPr sz="1600" b="1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Worksheet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(converted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204" dirty="0">
                <a:solidFill>
                  <a:srgbClr val="384654"/>
                </a:solidFill>
                <a:latin typeface="Calibri"/>
                <a:cs typeface="Calibri"/>
              </a:rPr>
              <a:t>CSV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processing)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2349" y="520649"/>
            <a:ext cx="338899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325" dirty="0"/>
              <a:t>Data</a:t>
            </a:r>
            <a:r>
              <a:rPr sz="3500" spc="-120" dirty="0"/>
              <a:t> </a:t>
            </a:r>
            <a:r>
              <a:rPr sz="3500" spc="200" dirty="0"/>
              <a:t>Processing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404571" y="1796008"/>
            <a:ext cx="4924425" cy="2237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9565" marR="448309" indent="-317500">
              <a:lnSpc>
                <a:spcPct val="114799"/>
              </a:lnSpc>
              <a:spcBef>
                <a:spcPts val="13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120" dirty="0">
                <a:solidFill>
                  <a:srgbClr val="384654"/>
                </a:solidFill>
                <a:latin typeface="Calibri"/>
                <a:cs typeface="Calibri"/>
              </a:rPr>
              <a:t>Imported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Libraries: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Pandas,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NumPy,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Matplotlib,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Seaborn</a:t>
            </a:r>
            <a:endParaRPr sz="1400">
              <a:latin typeface="Calibri"/>
              <a:cs typeface="Calibri"/>
            </a:endParaRPr>
          </a:p>
          <a:p>
            <a:pPr marL="329565" marR="5080" indent="-317500">
              <a:lnSpc>
                <a:spcPts val="2210"/>
              </a:lnSpc>
              <a:spcBef>
                <a:spcPts val="9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120" dirty="0">
                <a:solidFill>
                  <a:srgbClr val="384654"/>
                </a:solidFill>
                <a:latin typeface="Calibri"/>
                <a:cs typeface="Calibri"/>
              </a:rPr>
              <a:t>Uploaded</a:t>
            </a:r>
            <a:r>
              <a:rPr sz="16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45" dirty="0">
                <a:solidFill>
                  <a:srgbClr val="384654"/>
                </a:solidFill>
                <a:latin typeface="Calibri"/>
                <a:cs typeface="Calibri"/>
              </a:rPr>
              <a:t>Datasets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0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4" dirty="0">
                <a:solidFill>
                  <a:srgbClr val="384654"/>
                </a:solidFill>
                <a:latin typeface="Calibri"/>
                <a:cs typeface="Calibri"/>
              </a:rPr>
              <a:t>Google</a:t>
            </a:r>
            <a:r>
              <a:rPr sz="16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Drive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&amp;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Mounted </a:t>
            </a:r>
            <a:r>
              <a:rPr sz="1600" b="1" spc="65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6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40" dirty="0">
                <a:solidFill>
                  <a:srgbClr val="384654"/>
                </a:solidFill>
                <a:latin typeface="Calibri"/>
                <a:cs typeface="Calibri"/>
              </a:rPr>
              <a:t>Colab</a:t>
            </a:r>
            <a:endParaRPr sz="1600">
              <a:latin typeface="Calibri"/>
              <a:cs typeface="Calibri"/>
            </a:endParaRPr>
          </a:p>
          <a:p>
            <a:pPr marL="329565" indent="-316865">
              <a:lnSpc>
                <a:spcPct val="100000"/>
              </a:lnSpc>
              <a:spcBef>
                <a:spcPts val="165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110" dirty="0">
                <a:solidFill>
                  <a:srgbClr val="384654"/>
                </a:solidFill>
                <a:latin typeface="Calibri"/>
                <a:cs typeface="Calibri"/>
              </a:rPr>
              <a:t>Merged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45" dirty="0">
                <a:solidFill>
                  <a:srgbClr val="384654"/>
                </a:solidFill>
                <a:latin typeface="Calibri"/>
                <a:cs typeface="Calibri"/>
              </a:rPr>
              <a:t>Datasets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5" dirty="0">
                <a:solidFill>
                  <a:srgbClr val="384654"/>
                </a:solidFill>
                <a:latin typeface="Calibri"/>
                <a:cs typeface="Calibri"/>
              </a:rPr>
              <a:t>'Loyalty</a:t>
            </a:r>
            <a:r>
              <a:rPr sz="16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70" dirty="0">
                <a:solidFill>
                  <a:srgbClr val="384654"/>
                </a:solidFill>
                <a:latin typeface="Calibri"/>
                <a:cs typeface="Calibri"/>
              </a:rPr>
              <a:t>Card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40" dirty="0">
                <a:solidFill>
                  <a:srgbClr val="384654"/>
                </a:solidFill>
                <a:latin typeface="Calibri"/>
                <a:cs typeface="Calibri"/>
              </a:rPr>
              <a:t>No’</a:t>
            </a:r>
            <a:endParaRPr sz="1600">
              <a:latin typeface="Calibri"/>
              <a:cs typeface="Calibri"/>
            </a:endParaRPr>
          </a:p>
          <a:p>
            <a:pPr marL="329565" indent="-316865">
              <a:lnSpc>
                <a:spcPct val="100000"/>
              </a:lnSpc>
              <a:spcBef>
                <a:spcPts val="285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85" dirty="0">
                <a:solidFill>
                  <a:srgbClr val="384654"/>
                </a:solidFill>
                <a:latin typeface="Calibri"/>
                <a:cs typeface="Calibri"/>
              </a:rPr>
              <a:t>Final</a:t>
            </a:r>
            <a:r>
              <a:rPr sz="16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0" dirty="0">
                <a:solidFill>
                  <a:srgbClr val="384654"/>
                </a:solidFill>
                <a:latin typeface="Calibri"/>
                <a:cs typeface="Calibri"/>
              </a:rPr>
              <a:t>Merged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4" dirty="0">
                <a:solidFill>
                  <a:srgbClr val="384654"/>
                </a:solidFill>
                <a:latin typeface="Calibri"/>
                <a:cs typeface="Calibri"/>
              </a:rPr>
              <a:t>Dataset: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264,836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records,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10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columns</a:t>
            </a:r>
            <a:endParaRPr sz="1400">
              <a:latin typeface="Calibri"/>
              <a:cs typeface="Calibri"/>
            </a:endParaRPr>
          </a:p>
          <a:p>
            <a:pPr marL="329565" indent="-316865">
              <a:lnSpc>
                <a:spcPct val="100000"/>
              </a:lnSpc>
              <a:spcBef>
                <a:spcPts val="29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Unique</a:t>
            </a:r>
            <a:r>
              <a:rPr sz="1600" b="1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30" dirty="0">
                <a:solidFill>
                  <a:srgbClr val="384654"/>
                </a:solidFill>
                <a:latin typeface="Calibri"/>
                <a:cs typeface="Calibri"/>
              </a:rPr>
              <a:t>Loyalty</a:t>
            </a:r>
            <a:r>
              <a:rPr sz="16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70" dirty="0">
                <a:solidFill>
                  <a:srgbClr val="384654"/>
                </a:solidFill>
                <a:latin typeface="Calibri"/>
                <a:cs typeface="Calibri"/>
              </a:rPr>
              <a:t>Card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14" dirty="0">
                <a:solidFill>
                  <a:srgbClr val="384654"/>
                </a:solidFill>
                <a:latin typeface="Calibri"/>
                <a:cs typeface="Calibri"/>
              </a:rPr>
              <a:t>Numbers:</a:t>
            </a:r>
            <a:r>
              <a:rPr sz="1600" b="1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72,637</a:t>
            </a:r>
            <a:endParaRPr sz="1400">
              <a:latin typeface="Calibri"/>
              <a:cs typeface="Calibri"/>
            </a:endParaRPr>
          </a:p>
          <a:p>
            <a:pPr marL="329565" indent="-316865">
              <a:lnSpc>
                <a:spcPct val="100000"/>
              </a:lnSpc>
              <a:spcBef>
                <a:spcPts val="29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b="1" spc="185" dirty="0">
                <a:solidFill>
                  <a:srgbClr val="384654"/>
                </a:solidFill>
                <a:latin typeface="Calibri"/>
                <a:cs typeface="Calibri"/>
              </a:rPr>
              <a:t>Checked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7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60" dirty="0">
                <a:solidFill>
                  <a:srgbClr val="384654"/>
                </a:solidFill>
                <a:latin typeface="Calibri"/>
                <a:cs typeface="Calibri"/>
              </a:rPr>
              <a:t>Null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Values: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None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Found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69735" y="-9525"/>
            <a:ext cx="2884170" cy="5099685"/>
            <a:chOff x="6269735" y="-9525"/>
            <a:chExt cx="2884170" cy="5099685"/>
          </a:xfrm>
        </p:grpSpPr>
        <p:sp>
          <p:nvSpPr>
            <p:cNvPr id="5" name="object 5"/>
            <p:cNvSpPr/>
            <p:nvPr/>
          </p:nvSpPr>
          <p:spPr>
            <a:xfrm>
              <a:off x="7368539" y="98882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5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09484" y="21661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69735" y="0"/>
              <a:ext cx="838835" cy="522605"/>
            </a:xfrm>
            <a:custGeom>
              <a:avLst/>
              <a:gdLst/>
              <a:ahLst/>
              <a:cxnLst/>
              <a:rect l="l" t="t" r="r" b="b"/>
              <a:pathLst>
                <a:path w="838834" h="522605">
                  <a:moveTo>
                    <a:pt x="838708" y="0"/>
                  </a:moveTo>
                  <a:lnTo>
                    <a:pt x="0" y="0"/>
                  </a:lnTo>
                  <a:lnTo>
                    <a:pt x="0" y="280288"/>
                  </a:lnTo>
                  <a:lnTo>
                    <a:pt x="418972" y="522350"/>
                  </a:lnTo>
                  <a:lnTo>
                    <a:pt x="838708" y="280288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30767" y="234188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713231" y="798510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62391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62391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51904" y="311086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47"/>
                  </a:lnTo>
                  <a:lnTo>
                    <a:pt x="418973" y="968184"/>
                  </a:lnTo>
                  <a:lnTo>
                    <a:pt x="838708" y="726147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968184"/>
                  </a:moveTo>
                  <a:lnTo>
                    <a:pt x="0" y="726147"/>
                  </a:lnTo>
                  <a:lnTo>
                    <a:pt x="0" y="242062"/>
                  </a:lnTo>
                  <a:lnTo>
                    <a:pt x="418973" y="0"/>
                  </a:lnTo>
                  <a:lnTo>
                    <a:pt x="838708" y="242062"/>
                  </a:lnTo>
                  <a:lnTo>
                    <a:pt x="838708" y="726147"/>
                  </a:lnTo>
                  <a:lnTo>
                    <a:pt x="418973" y="96818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8798" y="2668777"/>
              <a:ext cx="465455" cy="968375"/>
            </a:xfrm>
            <a:custGeom>
              <a:avLst/>
              <a:gdLst/>
              <a:ahLst/>
              <a:cxnLst/>
              <a:rect l="l" t="t" r="r" b="b"/>
              <a:pathLst>
                <a:path w="46545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465200" y="941475"/>
                  </a:lnTo>
                  <a:lnTo>
                    <a:pt x="465200" y="2665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30767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30767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713231" y="169699"/>
                  </a:moveTo>
                  <a:lnTo>
                    <a:pt x="418973" y="0"/>
                  </a:ln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87"/>
                  </a:lnTo>
                  <a:lnTo>
                    <a:pt x="0" y="726147"/>
                  </a:lnTo>
                  <a:lnTo>
                    <a:pt x="419100" y="968171"/>
                  </a:lnTo>
                  <a:lnTo>
                    <a:pt x="838707" y="726147"/>
                  </a:lnTo>
                  <a:lnTo>
                    <a:pt x="838707" y="242087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71"/>
                  </a:moveTo>
                  <a:lnTo>
                    <a:pt x="0" y="726147"/>
                  </a:lnTo>
                  <a:lnTo>
                    <a:pt x="0" y="242087"/>
                  </a:lnTo>
                  <a:lnTo>
                    <a:pt x="419100" y="0"/>
                  </a:lnTo>
                  <a:lnTo>
                    <a:pt x="838707" y="242087"/>
                  </a:lnTo>
                  <a:lnTo>
                    <a:pt x="838707" y="726147"/>
                  </a:lnTo>
                  <a:lnTo>
                    <a:pt x="419100" y="96817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97215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100" y="968119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97215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19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9100" y="0"/>
                  </a:lnTo>
                  <a:lnTo>
                    <a:pt x="838707" y="242023"/>
                  </a:lnTo>
                  <a:lnTo>
                    <a:pt x="838707" y="726084"/>
                  </a:lnTo>
                  <a:lnTo>
                    <a:pt x="419100" y="9681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28129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28129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25104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0" y="0"/>
                  </a:lnTo>
                  <a:lnTo>
                    <a:pt x="0" y="474599"/>
                  </a:lnTo>
                  <a:lnTo>
                    <a:pt x="419100" y="716661"/>
                  </a:lnTo>
                  <a:lnTo>
                    <a:pt x="838708" y="474599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25104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838708" y="474599"/>
                  </a:lnTo>
                  <a:lnTo>
                    <a:pt x="419100" y="716661"/>
                  </a:lnTo>
                  <a:lnTo>
                    <a:pt x="0" y="474599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6036436" y="1322958"/>
            <a:ext cx="1082040" cy="1607820"/>
            <a:chOff x="6036436" y="1322958"/>
            <a:chExt cx="1082040" cy="1607820"/>
          </a:xfrm>
        </p:grpSpPr>
        <p:sp>
          <p:nvSpPr>
            <p:cNvPr id="28" name="object 28"/>
            <p:cNvSpPr/>
            <p:nvPr/>
          </p:nvSpPr>
          <p:spPr>
            <a:xfrm>
              <a:off x="6036436" y="196215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421376" y="4215879"/>
            <a:ext cx="1247775" cy="937260"/>
            <a:chOff x="5421376" y="4215879"/>
            <a:chExt cx="1247775" cy="937260"/>
          </a:xfrm>
        </p:grpSpPr>
        <p:sp>
          <p:nvSpPr>
            <p:cNvPr id="32" name="object 32"/>
            <p:cNvSpPr/>
            <p:nvPr/>
          </p:nvSpPr>
          <p:spPr>
            <a:xfrm>
              <a:off x="5830443" y="4215879"/>
              <a:ext cx="838835" cy="927735"/>
            </a:xfrm>
            <a:custGeom>
              <a:avLst/>
              <a:gdLst/>
              <a:ahLst/>
              <a:cxnLst/>
              <a:rect l="l" t="t" r="r" b="b"/>
              <a:pathLst>
                <a:path w="838834" h="927735">
                  <a:moveTo>
                    <a:pt x="419100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348962" y="927620"/>
                  </a:lnTo>
                  <a:lnTo>
                    <a:pt x="489322" y="927620"/>
                  </a:lnTo>
                  <a:lnTo>
                    <a:pt x="838708" y="726097"/>
                  </a:lnTo>
                  <a:lnTo>
                    <a:pt x="838708" y="242036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418973" y="0"/>
                  </a:moveTo>
                  <a:lnTo>
                    <a:pt x="0" y="242023"/>
                  </a:lnTo>
                  <a:lnTo>
                    <a:pt x="0" y="492582"/>
                  </a:lnTo>
                  <a:lnTo>
                    <a:pt x="838708" y="492582"/>
                  </a:lnTo>
                  <a:lnTo>
                    <a:pt x="838708" y="242023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0" y="492582"/>
                  </a:moveTo>
                  <a:lnTo>
                    <a:pt x="0" y="242023"/>
                  </a:lnTo>
                  <a:lnTo>
                    <a:pt x="418973" y="0"/>
                  </a:lnTo>
                  <a:lnTo>
                    <a:pt x="838708" y="242023"/>
                  </a:lnTo>
                  <a:lnTo>
                    <a:pt x="838708" y="49258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2349" y="88138"/>
            <a:ext cx="296926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325" dirty="0"/>
              <a:t>Data</a:t>
            </a:r>
            <a:r>
              <a:rPr sz="3500" spc="-125" dirty="0"/>
              <a:t> </a:t>
            </a:r>
            <a:r>
              <a:rPr sz="3500" spc="204" dirty="0"/>
              <a:t>Cleaning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264972" y="1089405"/>
            <a:ext cx="5457825" cy="347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7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Company</a:t>
            </a:r>
            <a:r>
              <a:rPr sz="1600" b="1" u="sng" spc="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Name</a:t>
            </a:r>
            <a:r>
              <a:rPr sz="1600" b="1" u="sng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0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Standardization</a:t>
            </a:r>
            <a:endParaRPr sz="1600">
              <a:latin typeface="Calibri"/>
              <a:cs typeface="Calibri"/>
            </a:endParaRPr>
          </a:p>
          <a:p>
            <a:pPr marL="580390" indent="-110489">
              <a:lnSpc>
                <a:spcPct val="100000"/>
              </a:lnSpc>
              <a:buSzPct val="87500"/>
              <a:buChar char="•"/>
              <a:tabLst>
                <a:tab pos="580390" algn="l"/>
              </a:tabLst>
            </a:pP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Found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inconsistencies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company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names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(e.g.,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35" dirty="0">
                <a:solidFill>
                  <a:srgbClr val="384654"/>
                </a:solidFill>
                <a:latin typeface="Calibri"/>
                <a:cs typeface="Calibri"/>
              </a:rPr>
              <a:t>'Red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Rock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Deli'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vs.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84654"/>
                </a:solidFill>
                <a:latin typeface="Calibri"/>
                <a:cs typeface="Calibri"/>
              </a:rPr>
              <a:t>'RRD’)</a:t>
            </a:r>
            <a:endParaRPr sz="1600">
              <a:latin typeface="Calibri"/>
              <a:cs typeface="Calibri"/>
            </a:endParaRPr>
          </a:p>
          <a:p>
            <a:pPr marL="469900" marR="717550" indent="125730">
              <a:lnSpc>
                <a:spcPct val="100000"/>
              </a:lnSpc>
              <a:spcBef>
                <a:spcPts val="5"/>
              </a:spcBef>
              <a:buChar char="•"/>
              <a:tabLst>
                <a:tab pos="595630" algn="l"/>
              </a:tabLst>
            </a:pP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Created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a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dictionary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map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all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variations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to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standardized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names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Used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ChatGPT</a:t>
            </a:r>
            <a:r>
              <a:rPr sz="1600" spc="1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initial</a:t>
            </a:r>
            <a:r>
              <a:rPr sz="1600" spc="1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mapping,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then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manually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refined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84654"/>
                </a:solidFill>
                <a:latin typeface="Calibri"/>
                <a:cs typeface="Calibri"/>
              </a:rPr>
              <a:t>it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Created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new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column: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40" dirty="0">
                <a:solidFill>
                  <a:srgbClr val="384654"/>
                </a:solidFill>
                <a:latin typeface="Calibri"/>
                <a:cs typeface="Calibri"/>
              </a:rPr>
              <a:t>'Company</a:t>
            </a:r>
            <a:r>
              <a:rPr sz="16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Name’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u="sng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Removed</a:t>
            </a:r>
            <a:r>
              <a:rPr sz="1600" b="1" u="sng" spc="3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3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Incomplete</a:t>
            </a:r>
            <a:r>
              <a:rPr sz="1600" b="1" u="sng" spc="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14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Records: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'French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Fried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Potato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Chips'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no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company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Removed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384654"/>
                </a:solidFill>
                <a:latin typeface="Calibri"/>
                <a:cs typeface="Calibri"/>
              </a:rPr>
              <a:t>1,418</a:t>
            </a:r>
            <a:r>
              <a:rPr sz="16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45" dirty="0">
                <a:solidFill>
                  <a:srgbClr val="384654"/>
                </a:solidFill>
                <a:latin typeface="Calibri"/>
                <a:cs typeface="Calibri"/>
              </a:rPr>
              <a:t>records</a:t>
            </a:r>
            <a:r>
              <a:rPr sz="1600" b="1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containing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this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u="sng" spc="13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Date</a:t>
            </a:r>
            <a:r>
              <a:rPr sz="1600" b="1" u="sng" spc="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Format</a:t>
            </a:r>
            <a:r>
              <a:rPr sz="1600" b="1" u="sng" spc="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9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Issue:</a:t>
            </a:r>
            <a:r>
              <a:rPr sz="1600" b="1" u="none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75" dirty="0">
                <a:solidFill>
                  <a:srgbClr val="384654"/>
                </a:solidFill>
                <a:latin typeface="Calibri"/>
                <a:cs typeface="Calibri"/>
              </a:rPr>
              <a:t>Unable</a:t>
            </a:r>
            <a:r>
              <a:rPr sz="1600" u="none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u="none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dirty="0">
                <a:solidFill>
                  <a:srgbClr val="384654"/>
                </a:solidFill>
                <a:latin typeface="Calibri"/>
                <a:cs typeface="Calibri"/>
              </a:rPr>
              <a:t>fix,</a:t>
            </a:r>
            <a:r>
              <a:rPr sz="1600" u="none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100" dirty="0">
                <a:solidFill>
                  <a:srgbClr val="384654"/>
                </a:solidFill>
                <a:latin typeface="Calibri"/>
                <a:cs typeface="Calibri"/>
              </a:rPr>
              <a:t>kept</a:t>
            </a:r>
            <a:r>
              <a:rPr sz="1600" u="none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u="none" spc="200" dirty="0">
                <a:solidFill>
                  <a:srgbClr val="384654"/>
                </a:solidFill>
                <a:latin typeface="Calibri"/>
                <a:cs typeface="Calibri"/>
              </a:rPr>
              <a:t>as-</a:t>
            </a:r>
            <a:r>
              <a:rPr sz="1600" u="none" spc="65" dirty="0">
                <a:solidFill>
                  <a:srgbClr val="384654"/>
                </a:solidFill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6436" y="1322958"/>
            <a:ext cx="1082040" cy="1607820"/>
            <a:chOff x="6036436" y="1322958"/>
            <a:chExt cx="1082040" cy="1607820"/>
          </a:xfrm>
        </p:grpSpPr>
        <p:sp>
          <p:nvSpPr>
            <p:cNvPr id="5" name="object 5"/>
            <p:cNvSpPr/>
            <p:nvPr/>
          </p:nvSpPr>
          <p:spPr>
            <a:xfrm>
              <a:off x="6036436" y="196215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421376" y="4215879"/>
            <a:ext cx="1247775" cy="937260"/>
            <a:chOff x="5421376" y="4215879"/>
            <a:chExt cx="1247775" cy="937260"/>
          </a:xfrm>
        </p:grpSpPr>
        <p:sp>
          <p:nvSpPr>
            <p:cNvPr id="9" name="object 9"/>
            <p:cNvSpPr/>
            <p:nvPr/>
          </p:nvSpPr>
          <p:spPr>
            <a:xfrm>
              <a:off x="5830443" y="4215879"/>
              <a:ext cx="838835" cy="927735"/>
            </a:xfrm>
            <a:custGeom>
              <a:avLst/>
              <a:gdLst/>
              <a:ahLst/>
              <a:cxnLst/>
              <a:rect l="l" t="t" r="r" b="b"/>
              <a:pathLst>
                <a:path w="838834" h="927735">
                  <a:moveTo>
                    <a:pt x="419100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348962" y="927620"/>
                  </a:lnTo>
                  <a:lnTo>
                    <a:pt x="489322" y="927620"/>
                  </a:lnTo>
                  <a:lnTo>
                    <a:pt x="838708" y="726097"/>
                  </a:lnTo>
                  <a:lnTo>
                    <a:pt x="838708" y="242036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418973" y="0"/>
                  </a:moveTo>
                  <a:lnTo>
                    <a:pt x="0" y="242023"/>
                  </a:lnTo>
                  <a:lnTo>
                    <a:pt x="0" y="492582"/>
                  </a:lnTo>
                  <a:lnTo>
                    <a:pt x="838708" y="492582"/>
                  </a:lnTo>
                  <a:lnTo>
                    <a:pt x="838708" y="242023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0" y="492582"/>
                  </a:moveTo>
                  <a:lnTo>
                    <a:pt x="0" y="242023"/>
                  </a:lnTo>
                  <a:lnTo>
                    <a:pt x="418973" y="0"/>
                  </a:lnTo>
                  <a:lnTo>
                    <a:pt x="838708" y="242023"/>
                  </a:lnTo>
                  <a:lnTo>
                    <a:pt x="838708" y="49258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-4762" y="-9525"/>
            <a:ext cx="9158605" cy="5099685"/>
            <a:chOff x="-4762" y="-9525"/>
            <a:chExt cx="9158605" cy="5099685"/>
          </a:xfrm>
        </p:grpSpPr>
        <p:sp>
          <p:nvSpPr>
            <p:cNvPr id="13" name="object 13"/>
            <p:cNvSpPr/>
            <p:nvPr/>
          </p:nvSpPr>
          <p:spPr>
            <a:xfrm>
              <a:off x="7368540" y="98882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5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09484" y="21661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69735" y="0"/>
              <a:ext cx="838835" cy="522605"/>
            </a:xfrm>
            <a:custGeom>
              <a:avLst/>
              <a:gdLst/>
              <a:ahLst/>
              <a:cxnLst/>
              <a:rect l="l" t="t" r="r" b="b"/>
              <a:pathLst>
                <a:path w="838834" h="522605">
                  <a:moveTo>
                    <a:pt x="838708" y="0"/>
                  </a:moveTo>
                  <a:lnTo>
                    <a:pt x="0" y="0"/>
                  </a:lnTo>
                  <a:lnTo>
                    <a:pt x="0" y="280288"/>
                  </a:lnTo>
                  <a:lnTo>
                    <a:pt x="418972" y="522350"/>
                  </a:lnTo>
                  <a:lnTo>
                    <a:pt x="838708" y="280288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30768" y="234188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713231" y="798510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62392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62392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51904" y="311086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47"/>
                  </a:lnTo>
                  <a:lnTo>
                    <a:pt x="418973" y="968184"/>
                  </a:lnTo>
                  <a:lnTo>
                    <a:pt x="838708" y="726147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968184"/>
                  </a:moveTo>
                  <a:lnTo>
                    <a:pt x="0" y="726147"/>
                  </a:lnTo>
                  <a:lnTo>
                    <a:pt x="0" y="242062"/>
                  </a:lnTo>
                  <a:lnTo>
                    <a:pt x="418973" y="0"/>
                  </a:lnTo>
                  <a:lnTo>
                    <a:pt x="838708" y="242062"/>
                  </a:lnTo>
                  <a:lnTo>
                    <a:pt x="838708" y="726147"/>
                  </a:lnTo>
                  <a:lnTo>
                    <a:pt x="418973" y="96818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78798" y="2668777"/>
              <a:ext cx="465455" cy="968375"/>
            </a:xfrm>
            <a:custGeom>
              <a:avLst/>
              <a:gdLst/>
              <a:ahLst/>
              <a:cxnLst/>
              <a:rect l="l" t="t" r="r" b="b"/>
              <a:pathLst>
                <a:path w="46545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465200" y="941475"/>
                  </a:lnTo>
                  <a:lnTo>
                    <a:pt x="465200" y="2665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30768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30768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713231" y="169699"/>
                  </a:moveTo>
                  <a:lnTo>
                    <a:pt x="418973" y="0"/>
                  </a:ln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87"/>
                  </a:lnTo>
                  <a:lnTo>
                    <a:pt x="0" y="726147"/>
                  </a:lnTo>
                  <a:lnTo>
                    <a:pt x="419100" y="968171"/>
                  </a:lnTo>
                  <a:lnTo>
                    <a:pt x="838707" y="726147"/>
                  </a:lnTo>
                  <a:lnTo>
                    <a:pt x="838707" y="242087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71"/>
                  </a:moveTo>
                  <a:lnTo>
                    <a:pt x="0" y="726147"/>
                  </a:lnTo>
                  <a:lnTo>
                    <a:pt x="0" y="242087"/>
                  </a:lnTo>
                  <a:lnTo>
                    <a:pt x="419100" y="0"/>
                  </a:lnTo>
                  <a:lnTo>
                    <a:pt x="838707" y="242087"/>
                  </a:lnTo>
                  <a:lnTo>
                    <a:pt x="838707" y="726147"/>
                  </a:lnTo>
                  <a:lnTo>
                    <a:pt x="419100" y="96817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97216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100" y="968119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97216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19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9100" y="0"/>
                  </a:lnTo>
                  <a:lnTo>
                    <a:pt x="838707" y="242023"/>
                  </a:lnTo>
                  <a:lnTo>
                    <a:pt x="838707" y="726084"/>
                  </a:lnTo>
                  <a:lnTo>
                    <a:pt x="419100" y="9681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28130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28130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25105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0" y="0"/>
                  </a:lnTo>
                  <a:lnTo>
                    <a:pt x="0" y="474599"/>
                  </a:lnTo>
                  <a:lnTo>
                    <a:pt x="419100" y="716661"/>
                  </a:lnTo>
                  <a:lnTo>
                    <a:pt x="838708" y="474599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25105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838708" y="474599"/>
                  </a:lnTo>
                  <a:lnTo>
                    <a:pt x="419100" y="716661"/>
                  </a:lnTo>
                  <a:lnTo>
                    <a:pt x="0" y="474599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9144000" y="0"/>
                  </a:moveTo>
                  <a:lnTo>
                    <a:pt x="0" y="0"/>
                  </a:lnTo>
                  <a:lnTo>
                    <a:pt x="0" y="15875"/>
                  </a:lnTo>
                  <a:lnTo>
                    <a:pt x="9144000" y="158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0" y="15875"/>
                  </a:moveTo>
                  <a:lnTo>
                    <a:pt x="9144000" y="1587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ln w="9525">
              <a:solidFill>
                <a:srgbClr val="3846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736" y="510362"/>
            <a:ext cx="43522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180" dirty="0"/>
              <a:t>Exploratory</a:t>
            </a:r>
            <a:r>
              <a:rPr sz="2800" spc="-85" dirty="0"/>
              <a:t> </a:t>
            </a:r>
            <a:r>
              <a:rPr sz="2800" spc="250" dirty="0"/>
              <a:t>Data</a:t>
            </a:r>
            <a:r>
              <a:rPr sz="2800" spc="-95" dirty="0"/>
              <a:t> </a:t>
            </a:r>
            <a:r>
              <a:rPr sz="2800" spc="140" dirty="0"/>
              <a:t>Analysis </a:t>
            </a:r>
            <a:r>
              <a:rPr sz="2800" spc="190" dirty="0"/>
              <a:t>(EDA)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71983" y="2063318"/>
            <a:ext cx="4312920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6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Key</a:t>
            </a:r>
            <a:r>
              <a:rPr sz="1600" b="1" u="sng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Analysis</a:t>
            </a:r>
            <a:r>
              <a:rPr sz="1600" b="1" u="sng" spc="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9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Areas: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925"/>
              </a:spcBef>
              <a:buFont typeface="Arial"/>
              <a:buChar char="•"/>
              <a:tabLst>
                <a:tab pos="299085" algn="l"/>
              </a:tabLst>
            </a:pP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Top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60" dirty="0">
                <a:solidFill>
                  <a:srgbClr val="384654"/>
                </a:solidFill>
                <a:latin typeface="Calibri"/>
                <a:cs typeface="Calibri"/>
              </a:rPr>
              <a:t>5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Brands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Segmentation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55" dirty="0">
                <a:solidFill>
                  <a:srgbClr val="384654"/>
                </a:solidFill>
                <a:latin typeface="Calibri"/>
                <a:cs typeface="Calibri"/>
              </a:rPr>
              <a:t>by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Lifestage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(Age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Groups)</a:t>
            </a:r>
            <a:endParaRPr sz="1600">
              <a:latin typeface="Calibri"/>
              <a:cs typeface="Calibri"/>
            </a:endParaRPr>
          </a:p>
          <a:p>
            <a:pPr marL="299085" marR="26860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Segmentation</a:t>
            </a: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by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Premium/Budget/Mainstream</a:t>
            </a:r>
            <a:r>
              <a:rPr sz="1600" spc="2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(Premium 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Column)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92751" y="-9525"/>
            <a:ext cx="4161154" cy="5153025"/>
            <a:chOff x="4992751" y="-9525"/>
            <a:chExt cx="4161154" cy="5153025"/>
          </a:xfrm>
        </p:grpSpPr>
        <p:sp>
          <p:nvSpPr>
            <p:cNvPr id="5" name="object 5"/>
            <p:cNvSpPr/>
            <p:nvPr/>
          </p:nvSpPr>
          <p:spPr>
            <a:xfrm>
              <a:off x="4992751" y="29171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1934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71104" y="53949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51750" y="101130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51750" y="101130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86907" y="142748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2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77001" y="91719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1"/>
                  </a:lnTo>
                  <a:lnTo>
                    <a:pt x="0" y="726185"/>
                  </a:lnTo>
                  <a:lnTo>
                    <a:pt x="418973" y="968120"/>
                  </a:lnTo>
                  <a:lnTo>
                    <a:pt x="838707" y="726185"/>
                  </a:lnTo>
                  <a:lnTo>
                    <a:pt x="838707" y="242061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77001" y="91719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1"/>
                  </a:lnTo>
                  <a:lnTo>
                    <a:pt x="0" y="726185"/>
                  </a:lnTo>
                  <a:lnTo>
                    <a:pt x="418973" y="968120"/>
                  </a:lnTo>
                  <a:lnTo>
                    <a:pt x="838707" y="726185"/>
                  </a:lnTo>
                  <a:lnTo>
                    <a:pt x="838707" y="242061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7828" y="0"/>
              <a:ext cx="838835" cy="681355"/>
            </a:xfrm>
            <a:custGeom>
              <a:avLst/>
              <a:gdLst/>
              <a:ahLst/>
              <a:cxnLst/>
              <a:rect l="l" t="t" r="r" b="b"/>
              <a:pathLst>
                <a:path w="838834" h="681355">
                  <a:moveTo>
                    <a:pt x="838707" y="0"/>
                  </a:moveTo>
                  <a:lnTo>
                    <a:pt x="0" y="0"/>
                  </a:lnTo>
                  <a:lnTo>
                    <a:pt x="0" y="439165"/>
                  </a:lnTo>
                  <a:lnTo>
                    <a:pt x="419100" y="681227"/>
                  </a:lnTo>
                  <a:lnTo>
                    <a:pt x="838707" y="439165"/>
                  </a:lnTo>
                  <a:lnTo>
                    <a:pt x="838707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1650" y="12725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1650" y="12725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06643" y="309359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08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99708" y="4389589"/>
              <a:ext cx="838835" cy="754380"/>
            </a:xfrm>
            <a:custGeom>
              <a:avLst/>
              <a:gdLst/>
              <a:ahLst/>
              <a:cxnLst/>
              <a:rect l="l" t="t" r="r" b="b"/>
              <a:pathLst>
                <a:path w="838834" h="754379">
                  <a:moveTo>
                    <a:pt x="418972" y="0"/>
                  </a:moveTo>
                  <a:lnTo>
                    <a:pt x="0" y="242023"/>
                  </a:lnTo>
                  <a:lnTo>
                    <a:pt x="0" y="726085"/>
                  </a:lnTo>
                  <a:lnTo>
                    <a:pt x="48165" y="753910"/>
                  </a:lnTo>
                  <a:lnTo>
                    <a:pt x="790455" y="753910"/>
                  </a:lnTo>
                  <a:lnTo>
                    <a:pt x="838708" y="726085"/>
                  </a:lnTo>
                  <a:lnTo>
                    <a:pt x="838708" y="242023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9372" y="0"/>
              <a:ext cx="838835" cy="878840"/>
            </a:xfrm>
            <a:custGeom>
              <a:avLst/>
              <a:gdLst/>
              <a:ahLst/>
              <a:cxnLst/>
              <a:rect l="l" t="t" r="r" b="b"/>
              <a:pathLst>
                <a:path w="838835" h="878840">
                  <a:moveTo>
                    <a:pt x="573867" y="0"/>
                  </a:moveTo>
                  <a:lnTo>
                    <a:pt x="264359" y="0"/>
                  </a:lnTo>
                  <a:lnTo>
                    <a:pt x="0" y="152653"/>
                  </a:lnTo>
                  <a:lnTo>
                    <a:pt x="0" y="636777"/>
                  </a:lnTo>
                  <a:lnTo>
                    <a:pt x="418973" y="878839"/>
                  </a:lnTo>
                  <a:lnTo>
                    <a:pt x="838707" y="636777"/>
                  </a:lnTo>
                  <a:lnTo>
                    <a:pt x="838707" y="152653"/>
                  </a:lnTo>
                  <a:lnTo>
                    <a:pt x="57386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89372" y="0"/>
              <a:ext cx="838835" cy="878840"/>
            </a:xfrm>
            <a:custGeom>
              <a:avLst/>
              <a:gdLst/>
              <a:ahLst/>
              <a:cxnLst/>
              <a:rect l="l" t="t" r="r" b="b"/>
              <a:pathLst>
                <a:path w="838835" h="878840">
                  <a:moveTo>
                    <a:pt x="573867" y="0"/>
                  </a:moveTo>
                  <a:lnTo>
                    <a:pt x="838707" y="152653"/>
                  </a:lnTo>
                  <a:lnTo>
                    <a:pt x="838707" y="636777"/>
                  </a:lnTo>
                  <a:lnTo>
                    <a:pt x="418973" y="878839"/>
                  </a:lnTo>
                  <a:lnTo>
                    <a:pt x="0" y="636777"/>
                  </a:lnTo>
                  <a:lnTo>
                    <a:pt x="0" y="152653"/>
                  </a:lnTo>
                  <a:lnTo>
                    <a:pt x="26435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09283" y="394740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100" y="968120"/>
                  </a:lnTo>
                  <a:lnTo>
                    <a:pt x="838708" y="726084"/>
                  </a:lnTo>
                  <a:lnTo>
                    <a:pt x="838708" y="24202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09283" y="394740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20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9100" y="0"/>
                  </a:lnTo>
                  <a:lnTo>
                    <a:pt x="838708" y="242023"/>
                  </a:lnTo>
                  <a:lnTo>
                    <a:pt x="838708" y="726084"/>
                  </a:lnTo>
                  <a:lnTo>
                    <a:pt x="419100" y="9681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5371" y="229793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0"/>
                  </a:lnTo>
                  <a:lnTo>
                    <a:pt x="838707" y="726186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61578" y="1813305"/>
              <a:ext cx="582930" cy="968375"/>
            </a:xfrm>
            <a:custGeom>
              <a:avLst/>
              <a:gdLst/>
              <a:ahLst/>
              <a:cxnLst/>
              <a:rect l="l" t="t" r="r" b="b"/>
              <a:pathLst>
                <a:path w="582929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582422" y="873909"/>
                  </a:lnTo>
                  <a:lnTo>
                    <a:pt x="582422" y="94261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61578" y="1813305"/>
              <a:ext cx="582930" cy="968375"/>
            </a:xfrm>
            <a:custGeom>
              <a:avLst/>
              <a:gdLst/>
              <a:ahLst/>
              <a:cxnLst/>
              <a:rect l="l" t="t" r="r" b="b"/>
              <a:pathLst>
                <a:path w="582929" h="968375">
                  <a:moveTo>
                    <a:pt x="582422" y="94261"/>
                  </a:moveTo>
                  <a:lnTo>
                    <a:pt x="418973" y="0"/>
                  </a:ln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582422" y="87390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6663" y="301409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1"/>
                  </a:lnTo>
                  <a:lnTo>
                    <a:pt x="0" y="726185"/>
                  </a:lnTo>
                  <a:lnTo>
                    <a:pt x="418972" y="968184"/>
                  </a:lnTo>
                  <a:lnTo>
                    <a:pt x="838707" y="726185"/>
                  </a:lnTo>
                  <a:lnTo>
                    <a:pt x="838707" y="242061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36663" y="301409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968184"/>
                  </a:moveTo>
                  <a:lnTo>
                    <a:pt x="0" y="726185"/>
                  </a:lnTo>
                  <a:lnTo>
                    <a:pt x="0" y="242061"/>
                  </a:lnTo>
                  <a:lnTo>
                    <a:pt x="418972" y="0"/>
                  </a:lnTo>
                  <a:lnTo>
                    <a:pt x="838707" y="242061"/>
                  </a:lnTo>
                  <a:lnTo>
                    <a:pt x="838707" y="726185"/>
                  </a:lnTo>
                  <a:lnTo>
                    <a:pt x="418972" y="96818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44714" y="348653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1935"/>
                  </a:lnTo>
                  <a:lnTo>
                    <a:pt x="0" y="726033"/>
                  </a:lnTo>
                  <a:lnTo>
                    <a:pt x="419100" y="968070"/>
                  </a:lnTo>
                  <a:lnTo>
                    <a:pt x="838707" y="726033"/>
                  </a:lnTo>
                  <a:lnTo>
                    <a:pt x="838707" y="24193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44714" y="348653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070"/>
                  </a:moveTo>
                  <a:lnTo>
                    <a:pt x="0" y="726033"/>
                  </a:lnTo>
                  <a:lnTo>
                    <a:pt x="0" y="241935"/>
                  </a:lnTo>
                  <a:lnTo>
                    <a:pt x="419100" y="0"/>
                  </a:lnTo>
                  <a:lnTo>
                    <a:pt x="838707" y="241935"/>
                  </a:lnTo>
                  <a:lnTo>
                    <a:pt x="838707" y="726033"/>
                  </a:lnTo>
                  <a:lnTo>
                    <a:pt x="419100" y="96807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61000" y="263677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61000" y="263677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968120"/>
                  </a:moveTo>
                  <a:lnTo>
                    <a:pt x="0" y="726058"/>
                  </a:lnTo>
                  <a:lnTo>
                    <a:pt x="0" y="242062"/>
                  </a:lnTo>
                  <a:lnTo>
                    <a:pt x="418973" y="0"/>
                  </a:lnTo>
                  <a:lnTo>
                    <a:pt x="838708" y="242062"/>
                  </a:lnTo>
                  <a:lnTo>
                    <a:pt x="838708" y="726058"/>
                  </a:lnTo>
                  <a:lnTo>
                    <a:pt x="418973" y="9681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43116" y="183032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9100" y="968120"/>
                  </a:lnTo>
                  <a:lnTo>
                    <a:pt x="838707" y="726058"/>
                  </a:lnTo>
                  <a:lnTo>
                    <a:pt x="838707" y="241934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43116" y="183032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9100" y="968120"/>
                  </a:lnTo>
                  <a:lnTo>
                    <a:pt x="838707" y="726058"/>
                  </a:lnTo>
                  <a:lnTo>
                    <a:pt x="838707" y="241934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39725" y="181102"/>
            <a:ext cx="374015" cy="0"/>
          </a:xfrm>
          <a:custGeom>
            <a:avLst/>
            <a:gdLst/>
            <a:ahLst/>
            <a:cxnLst/>
            <a:rect l="l" t="t" r="r" b="b"/>
            <a:pathLst>
              <a:path w="374015">
                <a:moveTo>
                  <a:pt x="0" y="0"/>
                </a:moveTo>
                <a:lnTo>
                  <a:pt x="373494" y="0"/>
                </a:lnTo>
              </a:path>
            </a:pathLst>
          </a:custGeom>
          <a:ln w="19050">
            <a:solidFill>
              <a:srgbClr val="3846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622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Visualisation</a:t>
            </a:r>
            <a:r>
              <a:rPr spc="-100" dirty="0"/>
              <a:t> </a:t>
            </a:r>
            <a:r>
              <a:rPr spc="-150" dirty="0"/>
              <a:t>1:</a:t>
            </a:r>
            <a:r>
              <a:rPr spc="-70" dirty="0"/>
              <a:t> </a:t>
            </a:r>
            <a:r>
              <a:rPr spc="185" dirty="0"/>
              <a:t>Top</a:t>
            </a:r>
            <a:r>
              <a:rPr spc="-70" dirty="0"/>
              <a:t> </a:t>
            </a:r>
            <a:r>
              <a:rPr spc="120" dirty="0"/>
              <a:t>5</a:t>
            </a:r>
            <a:r>
              <a:rPr spc="-75" dirty="0"/>
              <a:t> </a:t>
            </a:r>
            <a:r>
              <a:rPr spc="150" dirty="0"/>
              <a:t>Chip</a:t>
            </a:r>
            <a:r>
              <a:rPr spc="-90" dirty="0"/>
              <a:t> </a:t>
            </a:r>
            <a:r>
              <a:rPr spc="150" dirty="0"/>
              <a:t>Brands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88685" y="1336039"/>
            <a:ext cx="3599179" cy="237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02565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Kettle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75" dirty="0">
                <a:solidFill>
                  <a:srgbClr val="384654"/>
                </a:solidFill>
                <a:latin typeface="Calibri"/>
                <a:cs typeface="Calibri"/>
              </a:rPr>
              <a:t>(16%)</a:t>
            </a: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is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most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popular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chip 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brand,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leading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Smith’s</a:t>
            </a:r>
            <a:r>
              <a:rPr sz="1400" b="1" spc="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55" dirty="0">
                <a:solidFill>
                  <a:srgbClr val="384654"/>
                </a:solidFill>
                <a:latin typeface="Calibri"/>
                <a:cs typeface="Calibri"/>
              </a:rPr>
              <a:t>(12%)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3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384654"/>
                </a:solidFill>
                <a:latin typeface="Calibri"/>
                <a:cs typeface="Calibri"/>
              </a:rPr>
              <a:t>Doritos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84654"/>
                </a:solidFill>
                <a:latin typeface="Calibri"/>
                <a:cs typeface="Calibri"/>
              </a:rPr>
              <a:t>(11%)</a:t>
            </a:r>
            <a:r>
              <a:rPr sz="1400" b="1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the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next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most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purchased,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showing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strong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consumer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preference.</a:t>
            </a:r>
            <a:endParaRPr sz="1400">
              <a:latin typeface="Calibri"/>
              <a:cs typeface="Calibri"/>
            </a:endParaRPr>
          </a:p>
          <a:p>
            <a:pPr marL="299085" marR="13716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85" dirty="0">
                <a:solidFill>
                  <a:srgbClr val="384654"/>
                </a:solidFill>
                <a:latin typeface="Calibri"/>
                <a:cs typeface="Calibri"/>
              </a:rPr>
              <a:t>Pringles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50" dirty="0">
                <a:solidFill>
                  <a:srgbClr val="384654"/>
                </a:solidFill>
                <a:latin typeface="Calibri"/>
                <a:cs typeface="Calibri"/>
              </a:rPr>
              <a:t>(8%)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5" dirty="0">
                <a:solidFill>
                  <a:srgbClr val="384654"/>
                </a:solidFill>
                <a:latin typeface="Calibri"/>
                <a:cs typeface="Calibri"/>
              </a:rPr>
              <a:t>Red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Rock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Deli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5" dirty="0">
                <a:solidFill>
                  <a:srgbClr val="384654"/>
                </a:solidFill>
                <a:latin typeface="Calibri"/>
                <a:cs typeface="Calibri"/>
              </a:rPr>
              <a:t>(7%)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have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smaller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but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significant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market 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share.</a:t>
            </a:r>
            <a:endParaRPr sz="1400">
              <a:latin typeface="Calibri"/>
              <a:cs typeface="Calibri"/>
            </a:endParaRPr>
          </a:p>
          <a:p>
            <a:pPr marL="299085" marR="224790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trend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suggests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that </a:t>
            </a:r>
            <a:r>
              <a:rPr sz="1400" b="1" spc="125" dirty="0">
                <a:solidFill>
                  <a:srgbClr val="384654"/>
                </a:solidFill>
                <a:latin typeface="Calibri"/>
                <a:cs typeface="Calibri"/>
              </a:rPr>
              <a:t>consumers </a:t>
            </a: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prefer</a:t>
            </a:r>
            <a:r>
              <a:rPr sz="14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premium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75" dirty="0">
                <a:solidFill>
                  <a:srgbClr val="384654"/>
                </a:solidFill>
                <a:latin typeface="Calibri"/>
                <a:cs typeface="Calibri"/>
              </a:rPr>
              <a:t>or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well-</a:t>
            </a: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established </a:t>
            </a: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brands</a:t>
            </a:r>
            <a:r>
              <a:rPr sz="1400" b="1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chips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355"/>
            <a:ext cx="5289422" cy="3618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Visualization</a:t>
            </a:r>
            <a:r>
              <a:rPr spc="-100" dirty="0"/>
              <a:t> </a:t>
            </a:r>
            <a:r>
              <a:rPr spc="130" dirty="0"/>
              <a:t>2</a:t>
            </a:r>
            <a:r>
              <a:rPr spc="-80" dirty="0"/>
              <a:t> </a:t>
            </a:r>
            <a:r>
              <a:rPr spc="365" dirty="0"/>
              <a:t>-</a:t>
            </a:r>
            <a:r>
              <a:rPr spc="-75" dirty="0"/>
              <a:t> </a:t>
            </a:r>
            <a:r>
              <a:rPr spc="145" dirty="0"/>
              <a:t>Customer</a:t>
            </a:r>
            <a:r>
              <a:rPr spc="-95" dirty="0"/>
              <a:t> </a:t>
            </a:r>
            <a:r>
              <a:rPr spc="130" dirty="0"/>
              <a:t>Segmentation</a:t>
            </a:r>
            <a:r>
              <a:rPr spc="-80" dirty="0"/>
              <a:t> </a:t>
            </a:r>
            <a:r>
              <a:rPr spc="130" dirty="0"/>
              <a:t>by</a:t>
            </a:r>
            <a:r>
              <a:rPr spc="-85" dirty="0"/>
              <a:t> </a:t>
            </a:r>
            <a:r>
              <a:rPr spc="215" dirty="0"/>
              <a:t>Life-</a:t>
            </a:r>
            <a:r>
              <a:rPr spc="160" dirty="0"/>
              <a:t>stage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964429" y="1326896"/>
            <a:ext cx="4092575" cy="240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 algn="just">
              <a:lnSpc>
                <a:spcPct val="100000"/>
              </a:lnSpc>
              <a:spcBef>
                <a:spcPts val="100"/>
              </a:spcBef>
              <a:buSzPct val="116666"/>
              <a:buFont typeface="Arial"/>
              <a:buChar char="•"/>
              <a:tabLst>
                <a:tab pos="299085" algn="l"/>
              </a:tabLst>
            </a:pPr>
            <a:r>
              <a:rPr sz="1200" b="1" spc="85" dirty="0">
                <a:solidFill>
                  <a:srgbClr val="384654"/>
                </a:solidFill>
                <a:latin typeface="Calibri"/>
                <a:cs typeface="Calibri"/>
              </a:rPr>
              <a:t>Older</a:t>
            </a:r>
            <a:r>
              <a:rPr sz="1200" b="1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90" dirty="0">
                <a:solidFill>
                  <a:srgbClr val="384654"/>
                </a:solidFill>
                <a:latin typeface="Calibri"/>
                <a:cs typeface="Calibri"/>
              </a:rPr>
              <a:t>Singles/Couples</a:t>
            </a:r>
            <a:r>
              <a:rPr sz="12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84654"/>
                </a:solidFill>
                <a:latin typeface="Calibri"/>
                <a:cs typeface="Calibri"/>
              </a:rPr>
              <a:t>(21%)</a:t>
            </a:r>
            <a:r>
              <a:rPr sz="1200" b="1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2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2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largest</a:t>
            </a:r>
            <a:r>
              <a:rPr sz="12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segment 	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of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90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buyers,</a:t>
            </a:r>
            <a:r>
              <a:rPr sz="12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indicating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this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group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has</a:t>
            </a:r>
            <a:r>
              <a:rPr sz="12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strong 	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preference</a:t>
            </a:r>
            <a:r>
              <a:rPr sz="1200" spc="1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2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chips.</a:t>
            </a:r>
            <a:endParaRPr sz="1200">
              <a:latin typeface="Calibri"/>
              <a:cs typeface="Calibri"/>
            </a:endParaRPr>
          </a:p>
          <a:p>
            <a:pPr marL="299085" marR="76835" indent="-287020">
              <a:lnSpc>
                <a:spcPct val="100000"/>
              </a:lnSpc>
              <a:buSzPct val="116666"/>
              <a:buFont typeface="Arial"/>
              <a:buChar char="•"/>
              <a:tabLst>
                <a:tab pos="299085" algn="l"/>
              </a:tabLst>
            </a:pPr>
            <a:r>
              <a:rPr sz="1200" b="1" spc="85" dirty="0">
                <a:solidFill>
                  <a:srgbClr val="384654"/>
                </a:solidFill>
                <a:latin typeface="Calibri"/>
                <a:cs typeface="Calibri"/>
              </a:rPr>
              <a:t>Retirees</a:t>
            </a:r>
            <a:r>
              <a:rPr sz="1200" b="1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384654"/>
                </a:solidFill>
                <a:latin typeface="Calibri"/>
                <a:cs typeface="Calibri"/>
              </a:rPr>
              <a:t>(19%)</a:t>
            </a:r>
            <a:r>
              <a:rPr sz="1200" b="1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5" dirty="0">
                <a:solidFill>
                  <a:srgbClr val="384654"/>
                </a:solidFill>
                <a:latin typeface="Calibri"/>
                <a:cs typeface="Calibri"/>
              </a:rPr>
              <a:t>Older</a:t>
            </a:r>
            <a:r>
              <a:rPr sz="12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384654"/>
                </a:solidFill>
                <a:latin typeface="Calibri"/>
                <a:cs typeface="Calibri"/>
              </a:rPr>
              <a:t>Families</a:t>
            </a:r>
            <a:r>
              <a:rPr sz="12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384654"/>
                </a:solidFill>
                <a:latin typeface="Calibri"/>
                <a:cs typeface="Calibri"/>
              </a:rPr>
              <a:t>(18%)</a:t>
            </a:r>
            <a:r>
              <a:rPr sz="1200" b="1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also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have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15" dirty="0">
                <a:solidFill>
                  <a:srgbClr val="384654"/>
                </a:solidFill>
                <a:latin typeface="Calibri"/>
                <a:cs typeface="Calibri"/>
              </a:rPr>
              <a:t>a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significant</a:t>
            </a:r>
            <a:r>
              <a:rPr sz="12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84654"/>
                </a:solidFill>
                <a:latin typeface="Calibri"/>
                <a:cs typeface="Calibri"/>
              </a:rPr>
              <a:t>share,</a:t>
            </a:r>
            <a:r>
              <a:rPr sz="12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suggesting</a:t>
            </a:r>
            <a:r>
              <a:rPr sz="12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2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older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 age</a:t>
            </a:r>
            <a:r>
              <a:rPr sz="12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groups 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key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384654"/>
                </a:solidFill>
                <a:latin typeface="Calibri"/>
                <a:cs typeface="Calibri"/>
              </a:rPr>
              <a:t>consumers</a:t>
            </a:r>
            <a:r>
              <a:rPr sz="12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this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84654"/>
                </a:solidFill>
                <a:latin typeface="Calibri"/>
                <a:cs typeface="Calibri"/>
              </a:rPr>
              <a:t>market.</a:t>
            </a:r>
            <a:endParaRPr sz="1200">
              <a:latin typeface="Calibri"/>
              <a:cs typeface="Calibri"/>
            </a:endParaRPr>
          </a:p>
          <a:p>
            <a:pPr marL="299085" marR="58419" indent="-287020">
              <a:lnSpc>
                <a:spcPct val="100000"/>
              </a:lnSpc>
              <a:buSzPct val="116666"/>
              <a:buFont typeface="Arial"/>
              <a:buChar char="•"/>
              <a:tabLst>
                <a:tab pos="299085" algn="l"/>
              </a:tabLst>
            </a:pPr>
            <a:r>
              <a:rPr sz="1200" b="1" spc="90" dirty="0">
                <a:solidFill>
                  <a:srgbClr val="384654"/>
                </a:solidFill>
                <a:latin typeface="Calibri"/>
                <a:cs typeface="Calibri"/>
              </a:rPr>
              <a:t>Young</a:t>
            </a:r>
            <a:r>
              <a:rPr sz="1200" b="1" spc="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384654"/>
                </a:solidFill>
                <a:latin typeface="Calibri"/>
                <a:cs typeface="Calibri"/>
              </a:rPr>
              <a:t>Families</a:t>
            </a:r>
            <a:r>
              <a:rPr sz="12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384654"/>
                </a:solidFill>
                <a:latin typeface="Calibri"/>
                <a:cs typeface="Calibri"/>
              </a:rPr>
              <a:t>(16%)</a:t>
            </a:r>
            <a:r>
              <a:rPr sz="1200" b="1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90" dirty="0">
                <a:solidFill>
                  <a:srgbClr val="384654"/>
                </a:solidFill>
                <a:latin typeface="Calibri"/>
                <a:cs typeface="Calibri"/>
              </a:rPr>
              <a:t>Young</a:t>
            </a:r>
            <a:r>
              <a:rPr sz="1200" b="1" spc="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384654"/>
                </a:solidFill>
                <a:latin typeface="Calibri"/>
                <a:cs typeface="Calibri"/>
              </a:rPr>
              <a:t>Singles/Couples </a:t>
            </a:r>
            <a:r>
              <a:rPr sz="1200" b="1" spc="65" dirty="0">
                <a:solidFill>
                  <a:srgbClr val="384654"/>
                </a:solidFill>
                <a:latin typeface="Calibri"/>
                <a:cs typeface="Calibri"/>
              </a:rPr>
              <a:t>(14%)</a:t>
            </a:r>
            <a:r>
              <a:rPr sz="1200" b="1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have</a:t>
            </a:r>
            <a:r>
              <a:rPr sz="12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2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84654"/>
                </a:solidFill>
                <a:latin typeface="Calibri"/>
                <a:cs typeface="Calibri"/>
              </a:rPr>
              <a:t>lower</a:t>
            </a:r>
            <a:r>
              <a:rPr sz="12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but </a:t>
            </a:r>
            <a:r>
              <a:rPr sz="1200" dirty="0">
                <a:solidFill>
                  <a:srgbClr val="384654"/>
                </a:solidFill>
                <a:latin typeface="Calibri"/>
                <a:cs typeface="Calibri"/>
              </a:rPr>
              <a:t>still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considerable</a:t>
            </a:r>
            <a:r>
              <a:rPr sz="12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presence,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indicating</a:t>
            </a:r>
            <a:r>
              <a:rPr sz="12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younger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5" dirty="0">
                <a:solidFill>
                  <a:srgbClr val="384654"/>
                </a:solidFill>
                <a:latin typeface="Calibri"/>
                <a:cs typeface="Calibri"/>
              </a:rPr>
              <a:t>demographics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also</a:t>
            </a:r>
            <a:r>
              <a:rPr sz="12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engage </a:t>
            </a:r>
            <a:r>
              <a:rPr sz="1200" spc="-25" dirty="0">
                <a:solidFill>
                  <a:srgbClr val="384654"/>
                </a:solidFill>
                <a:latin typeface="Calibri"/>
                <a:cs typeface="Calibri"/>
              </a:rPr>
              <a:t>in </a:t>
            </a:r>
            <a:r>
              <a:rPr sz="1200" spc="90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2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purchases,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 though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lesser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extent.</a:t>
            </a:r>
            <a:endParaRPr sz="1200">
              <a:latin typeface="Calibri"/>
              <a:cs typeface="Calibri"/>
            </a:endParaRPr>
          </a:p>
          <a:p>
            <a:pPr marL="296545" marR="21590" indent="-284480" algn="just">
              <a:lnSpc>
                <a:spcPct val="100000"/>
              </a:lnSpc>
              <a:buSzPct val="116666"/>
              <a:buFont typeface="Arial"/>
              <a:buChar char="•"/>
              <a:tabLst>
                <a:tab pos="299085" algn="l"/>
              </a:tabLst>
            </a:pP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This trend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90" dirty="0">
                <a:solidFill>
                  <a:srgbClr val="384654"/>
                </a:solidFill>
                <a:latin typeface="Calibri"/>
                <a:cs typeface="Calibri"/>
              </a:rPr>
              <a:t>suggests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114" dirty="0">
                <a:solidFill>
                  <a:srgbClr val="384654"/>
                </a:solidFill>
                <a:latin typeface="Calibri"/>
                <a:cs typeface="Calibri"/>
              </a:rPr>
              <a:t>chips</a:t>
            </a:r>
            <a:r>
              <a:rPr sz="12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5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2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384654"/>
                </a:solidFill>
                <a:latin typeface="Calibri"/>
                <a:cs typeface="Calibri"/>
              </a:rPr>
              <a:t>popular</a:t>
            </a:r>
            <a:r>
              <a:rPr sz="12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125" dirty="0">
                <a:solidFill>
                  <a:srgbClr val="384654"/>
                </a:solidFill>
                <a:latin typeface="Calibri"/>
                <a:cs typeface="Calibri"/>
              </a:rPr>
              <a:t>across</a:t>
            </a:r>
            <a:r>
              <a:rPr sz="1200" b="1" spc="-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384654"/>
                </a:solidFill>
                <a:latin typeface="Calibri"/>
                <a:cs typeface="Calibri"/>
              </a:rPr>
              <a:t>all 	</a:t>
            </a:r>
            <a:r>
              <a:rPr sz="1200" b="1" spc="105" dirty="0">
                <a:solidFill>
                  <a:srgbClr val="384654"/>
                </a:solidFill>
                <a:latin typeface="Calibri"/>
                <a:cs typeface="Calibri"/>
              </a:rPr>
              <a:t>age</a:t>
            </a:r>
            <a:r>
              <a:rPr sz="12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b="1" spc="70" dirty="0">
                <a:solidFill>
                  <a:srgbClr val="384654"/>
                </a:solidFill>
                <a:latin typeface="Calibri"/>
                <a:cs typeface="Calibri"/>
              </a:rPr>
              <a:t>groups</a:t>
            </a:r>
            <a:r>
              <a:rPr sz="1200" spc="70" dirty="0">
                <a:solidFill>
                  <a:srgbClr val="384654"/>
                </a:solidFill>
                <a:latin typeface="Calibri"/>
                <a:cs typeface="Calibri"/>
              </a:rPr>
              <a:t>,</a:t>
            </a:r>
            <a:r>
              <a:rPr sz="1200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but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older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individuals</a:t>
            </a:r>
            <a:r>
              <a:rPr sz="12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families </a:t>
            </a:r>
            <a:r>
              <a:rPr sz="1200" spc="80" dirty="0">
                <a:solidFill>
                  <a:srgbClr val="384654"/>
                </a:solidFill>
                <a:latin typeface="Calibri"/>
                <a:cs typeface="Calibri"/>
              </a:rPr>
              <a:t>tend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to 	</a:t>
            </a:r>
            <a:r>
              <a:rPr sz="1200" spc="85" dirty="0">
                <a:solidFill>
                  <a:srgbClr val="384654"/>
                </a:solidFill>
                <a:latin typeface="Calibri"/>
                <a:cs typeface="Calibri"/>
              </a:rPr>
              <a:t>purchase</a:t>
            </a:r>
            <a:r>
              <a:rPr sz="12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384654"/>
                </a:solidFill>
                <a:latin typeface="Calibri"/>
                <a:cs typeface="Calibri"/>
              </a:rPr>
              <a:t>them</a:t>
            </a:r>
            <a:r>
              <a:rPr sz="12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384654"/>
                </a:solidFill>
                <a:latin typeface="Calibri"/>
                <a:cs typeface="Calibri"/>
              </a:rPr>
              <a:t>more</a:t>
            </a:r>
            <a:r>
              <a:rPr sz="12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384654"/>
                </a:solidFill>
                <a:latin typeface="Calibri"/>
                <a:cs typeface="Calibri"/>
              </a:rPr>
              <a:t>frequently.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4776"/>
            <a:ext cx="4905374" cy="35939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221081" y="206756"/>
            <a:ext cx="8698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95" dirty="0"/>
              <a:t>Visualization</a:t>
            </a:r>
            <a:r>
              <a:rPr sz="2000" spc="-85" dirty="0"/>
              <a:t> </a:t>
            </a:r>
            <a:r>
              <a:rPr sz="2000" spc="100" dirty="0"/>
              <a:t>3</a:t>
            </a:r>
            <a:r>
              <a:rPr sz="2000" spc="-60" dirty="0"/>
              <a:t> </a:t>
            </a:r>
            <a:r>
              <a:rPr sz="2000" spc="310" dirty="0"/>
              <a:t>-</a:t>
            </a:r>
            <a:r>
              <a:rPr sz="2000" spc="-65" dirty="0"/>
              <a:t> </a:t>
            </a:r>
            <a:r>
              <a:rPr sz="2000" spc="125" dirty="0"/>
              <a:t>Customer</a:t>
            </a:r>
            <a:r>
              <a:rPr sz="2000" spc="-70" dirty="0"/>
              <a:t> </a:t>
            </a:r>
            <a:r>
              <a:rPr sz="2000" spc="110" dirty="0"/>
              <a:t>Segmentation</a:t>
            </a:r>
            <a:r>
              <a:rPr sz="2000" spc="-80" dirty="0"/>
              <a:t> </a:t>
            </a:r>
            <a:r>
              <a:rPr sz="2000" spc="110" dirty="0"/>
              <a:t>by</a:t>
            </a:r>
            <a:r>
              <a:rPr sz="2000" spc="-80" dirty="0"/>
              <a:t> </a:t>
            </a:r>
            <a:r>
              <a:rPr sz="2000" spc="75" dirty="0"/>
              <a:t>Premium/Budget/Mainstream</a:t>
            </a:r>
            <a:endParaRPr sz="2000"/>
          </a:p>
        </p:txBody>
      </p:sp>
      <p:sp>
        <p:nvSpPr>
          <p:cNvPr id="19" name="object 19"/>
          <p:cNvSpPr txBox="1"/>
          <p:nvPr/>
        </p:nvSpPr>
        <p:spPr>
          <a:xfrm>
            <a:off x="4033265" y="1073886"/>
            <a:ext cx="4516120" cy="3707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marR="5080" indent="-317500">
              <a:lnSpc>
                <a:spcPct val="115100"/>
              </a:lnSpc>
              <a:spcBef>
                <a:spcPts val="95"/>
              </a:spcBef>
              <a:buFont typeface="Arial"/>
              <a:buChar char="•"/>
              <a:tabLst>
                <a:tab pos="329565" algn="l"/>
              </a:tabLst>
            </a:pPr>
            <a:r>
              <a:rPr sz="1400" b="1" spc="95" dirty="0">
                <a:solidFill>
                  <a:srgbClr val="384654"/>
                </a:solidFill>
                <a:latin typeface="Calibri"/>
                <a:cs typeface="Calibri"/>
              </a:rPr>
              <a:t>Mainstream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5" dirty="0">
                <a:solidFill>
                  <a:srgbClr val="384654"/>
                </a:solidFill>
                <a:latin typeface="Calibri"/>
                <a:cs typeface="Calibri"/>
              </a:rPr>
              <a:t>(39%)</a:t>
            </a:r>
            <a:r>
              <a:rPr sz="1400" b="1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form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largest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segment,</a:t>
            </a:r>
            <a:r>
              <a:rPr sz="1400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indicating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the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majority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of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customers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prefer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standard-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priced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chips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rather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than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high-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end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or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budget</a:t>
            </a:r>
            <a:r>
              <a:rPr sz="1400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options.</a:t>
            </a:r>
            <a:endParaRPr sz="1400">
              <a:latin typeface="Calibri"/>
              <a:cs typeface="Calibri"/>
            </a:endParaRPr>
          </a:p>
          <a:p>
            <a:pPr marL="329565" marR="146685" indent="-317500">
              <a:lnSpc>
                <a:spcPct val="114999"/>
              </a:lnSpc>
              <a:buFont typeface="Arial"/>
              <a:buChar char="•"/>
              <a:tabLst>
                <a:tab pos="329565" algn="l"/>
              </a:tabLst>
            </a:pP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Budget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(35%)</a:t>
            </a: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also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significant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group,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suggesting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large</a:t>
            </a:r>
            <a:r>
              <a:rPr sz="14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portion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of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price-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conscious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opt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more affordable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chips.</a:t>
            </a:r>
            <a:endParaRPr sz="1400">
              <a:latin typeface="Calibri"/>
              <a:cs typeface="Calibri"/>
            </a:endParaRPr>
          </a:p>
          <a:p>
            <a:pPr marL="329565" marR="102870" indent="-317500">
              <a:lnSpc>
                <a:spcPct val="114999"/>
              </a:lnSpc>
              <a:buFont typeface="Arial"/>
              <a:buChar char="•"/>
              <a:tabLst>
                <a:tab pos="329565" algn="l"/>
              </a:tabLst>
            </a:pP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Premium</a:t>
            </a:r>
            <a:r>
              <a:rPr sz="1400" b="1" spc="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(26%)</a:t>
            </a:r>
            <a:r>
              <a:rPr sz="1400" b="1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represent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the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smallest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segment,</a:t>
            </a:r>
            <a:r>
              <a:rPr sz="1400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implying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that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fewer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consumers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are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willing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pay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extra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high-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end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brands.</a:t>
            </a:r>
            <a:endParaRPr sz="1400">
              <a:latin typeface="Calibri"/>
              <a:cs typeface="Calibri"/>
            </a:endParaRPr>
          </a:p>
          <a:p>
            <a:pPr marL="329565" marR="167640" indent="-317500">
              <a:lnSpc>
                <a:spcPct val="114999"/>
              </a:lnSpc>
              <a:spcBef>
                <a:spcPts val="5"/>
              </a:spcBef>
              <a:buFont typeface="Arial"/>
              <a:buChar char="•"/>
              <a:tabLst>
                <a:tab pos="329565" algn="l"/>
              </a:tabLst>
            </a:pP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This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data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suggests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that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companies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should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primarily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focus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mainstream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budget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product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lines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while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maintaining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premium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options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niche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consumers.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4712"/>
            <a:ext cx="3984751" cy="40718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42334" y="1682953"/>
            <a:ext cx="2498090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0" spc="575" dirty="0"/>
              <a:t>Task</a:t>
            </a:r>
            <a:r>
              <a:rPr sz="6500" spc="-229" dirty="0"/>
              <a:t> </a:t>
            </a:r>
            <a:r>
              <a:rPr sz="6500" spc="310" dirty="0"/>
              <a:t>2</a:t>
            </a:r>
            <a:endParaRPr sz="6500"/>
          </a:p>
        </p:txBody>
      </p:sp>
      <p:sp>
        <p:nvSpPr>
          <p:cNvPr id="3" name="object 3"/>
          <p:cNvSpPr txBox="1"/>
          <p:nvPr/>
        </p:nvSpPr>
        <p:spPr>
          <a:xfrm>
            <a:off x="3942334" y="2904235"/>
            <a:ext cx="3536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Finding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193" y="1769364"/>
            <a:ext cx="2523490" cy="3383915"/>
            <a:chOff x="84193" y="1769364"/>
            <a:chExt cx="2523490" cy="3383915"/>
          </a:xfrm>
        </p:grpSpPr>
        <p:sp>
          <p:nvSpPr>
            <p:cNvPr id="5" name="object 5"/>
            <p:cNvSpPr/>
            <p:nvPr/>
          </p:nvSpPr>
          <p:spPr>
            <a:xfrm>
              <a:off x="84193" y="404176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4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704" y="968120"/>
                  </a:lnTo>
                  <a:lnTo>
                    <a:pt x="838715" y="726097"/>
                  </a:lnTo>
                  <a:lnTo>
                    <a:pt x="838715" y="242036"/>
                  </a:lnTo>
                  <a:lnTo>
                    <a:pt x="41970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232" y="22752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9709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474" y="177888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96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696" y="968121"/>
                  </a:lnTo>
                  <a:lnTo>
                    <a:pt x="838708" y="726059"/>
                  </a:lnTo>
                  <a:lnTo>
                    <a:pt x="838708" y="241935"/>
                  </a:lnTo>
                  <a:lnTo>
                    <a:pt x="419696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1474" y="1778889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96" y="0"/>
                  </a:moveTo>
                  <a:lnTo>
                    <a:pt x="838708" y="241935"/>
                  </a:lnTo>
                  <a:lnTo>
                    <a:pt x="838708" y="726059"/>
                  </a:lnTo>
                  <a:lnTo>
                    <a:pt x="419696" y="968121"/>
                  </a:lnTo>
                  <a:lnTo>
                    <a:pt x="0" y="726059"/>
                  </a:lnTo>
                  <a:lnTo>
                    <a:pt x="0" y="241935"/>
                  </a:lnTo>
                  <a:lnTo>
                    <a:pt x="419696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0182" y="26512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46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46" y="968121"/>
                  </a:lnTo>
                  <a:lnTo>
                    <a:pt x="838746" y="726059"/>
                  </a:lnTo>
                  <a:lnTo>
                    <a:pt x="838746" y="242062"/>
                  </a:lnTo>
                  <a:lnTo>
                    <a:pt x="419646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0182" y="265125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46" y="0"/>
                  </a:moveTo>
                  <a:lnTo>
                    <a:pt x="838746" y="242062"/>
                  </a:lnTo>
                  <a:lnTo>
                    <a:pt x="838746" y="726059"/>
                  </a:lnTo>
                  <a:lnTo>
                    <a:pt x="419646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46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59203" y="404514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4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734" y="968121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542" y="35576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0"/>
                  </a:moveTo>
                  <a:lnTo>
                    <a:pt x="0" y="242062"/>
                  </a:lnTo>
                  <a:lnTo>
                    <a:pt x="0" y="726135"/>
                  </a:lnTo>
                  <a:lnTo>
                    <a:pt x="419709" y="968171"/>
                  </a:lnTo>
                  <a:lnTo>
                    <a:pt x="838720" y="726135"/>
                  </a:lnTo>
                  <a:lnTo>
                    <a:pt x="838720" y="242062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3542" y="35576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09" y="968171"/>
                  </a:moveTo>
                  <a:lnTo>
                    <a:pt x="838720" y="726135"/>
                  </a:lnTo>
                  <a:lnTo>
                    <a:pt x="838720" y="242062"/>
                  </a:lnTo>
                  <a:lnTo>
                    <a:pt x="419709" y="0"/>
                  </a:lnTo>
                  <a:lnTo>
                    <a:pt x="0" y="242062"/>
                  </a:lnTo>
                  <a:lnTo>
                    <a:pt x="0" y="726135"/>
                  </a:lnTo>
                  <a:lnTo>
                    <a:pt x="419709" y="96817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59203" y="4500765"/>
              <a:ext cx="838835" cy="643255"/>
            </a:xfrm>
            <a:custGeom>
              <a:avLst/>
              <a:gdLst/>
              <a:ahLst/>
              <a:cxnLst/>
              <a:rect l="l" t="t" r="r" b="b"/>
              <a:pathLst>
                <a:path w="838835" h="643254">
                  <a:moveTo>
                    <a:pt x="419607" y="0"/>
                  </a:moveTo>
                  <a:lnTo>
                    <a:pt x="0" y="242036"/>
                  </a:lnTo>
                  <a:lnTo>
                    <a:pt x="0" y="642734"/>
                  </a:lnTo>
                  <a:lnTo>
                    <a:pt x="838707" y="642734"/>
                  </a:lnTo>
                  <a:lnTo>
                    <a:pt x="838707" y="242036"/>
                  </a:lnTo>
                  <a:lnTo>
                    <a:pt x="4196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9203" y="4500765"/>
              <a:ext cx="838835" cy="643255"/>
            </a:xfrm>
            <a:custGeom>
              <a:avLst/>
              <a:gdLst/>
              <a:ahLst/>
              <a:cxnLst/>
              <a:rect l="l" t="t" r="r" b="b"/>
              <a:pathLst>
                <a:path w="838835" h="643254">
                  <a:moveTo>
                    <a:pt x="838707" y="642734"/>
                  </a:moveTo>
                  <a:lnTo>
                    <a:pt x="838707" y="242036"/>
                  </a:lnTo>
                  <a:lnTo>
                    <a:pt x="419607" y="0"/>
                  </a:lnTo>
                  <a:lnTo>
                    <a:pt x="0" y="242036"/>
                  </a:lnTo>
                  <a:lnTo>
                    <a:pt x="0" y="64273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84059" y="-9525"/>
            <a:ext cx="2453005" cy="2462530"/>
            <a:chOff x="984059" y="-9525"/>
            <a:chExt cx="2453005" cy="2462530"/>
          </a:xfrm>
        </p:grpSpPr>
        <p:sp>
          <p:nvSpPr>
            <p:cNvPr id="17" name="object 17"/>
            <p:cNvSpPr/>
            <p:nvPr/>
          </p:nvSpPr>
          <p:spPr>
            <a:xfrm>
              <a:off x="993584" y="456945"/>
              <a:ext cx="1885950" cy="1473835"/>
            </a:xfrm>
            <a:custGeom>
              <a:avLst/>
              <a:gdLst/>
              <a:ahLst/>
              <a:cxnLst/>
              <a:rect l="l" t="t" r="r" b="b"/>
              <a:pathLst>
                <a:path w="1885950" h="1473835">
                  <a:moveTo>
                    <a:pt x="838644" y="242062"/>
                  </a:moveTo>
                  <a:lnTo>
                    <a:pt x="419671" y="0"/>
                  </a:lnTo>
                  <a:lnTo>
                    <a:pt x="0" y="242062"/>
                  </a:lnTo>
                  <a:lnTo>
                    <a:pt x="0" y="726059"/>
                  </a:lnTo>
                  <a:lnTo>
                    <a:pt x="419671" y="968121"/>
                  </a:lnTo>
                  <a:lnTo>
                    <a:pt x="838644" y="726059"/>
                  </a:lnTo>
                  <a:lnTo>
                    <a:pt x="838644" y="242062"/>
                  </a:lnTo>
                  <a:close/>
                </a:path>
                <a:path w="1885950" h="1473835">
                  <a:moveTo>
                    <a:pt x="1885759" y="747268"/>
                  </a:moveTo>
                  <a:lnTo>
                    <a:pt x="1466659" y="505206"/>
                  </a:lnTo>
                  <a:lnTo>
                    <a:pt x="1047051" y="747268"/>
                  </a:lnTo>
                  <a:lnTo>
                    <a:pt x="1047051" y="1231265"/>
                  </a:lnTo>
                  <a:lnTo>
                    <a:pt x="1466659" y="1473327"/>
                  </a:lnTo>
                  <a:lnTo>
                    <a:pt x="1885759" y="1231265"/>
                  </a:lnTo>
                  <a:lnTo>
                    <a:pt x="1885759" y="747268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3584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71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71" y="968121"/>
                  </a:lnTo>
                  <a:lnTo>
                    <a:pt x="838771" y="726059"/>
                  </a:lnTo>
                  <a:lnTo>
                    <a:pt x="838771" y="242062"/>
                  </a:lnTo>
                  <a:lnTo>
                    <a:pt x="419671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3584" y="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71" y="0"/>
                  </a:moveTo>
                  <a:lnTo>
                    <a:pt x="838771" y="242062"/>
                  </a:lnTo>
                  <a:lnTo>
                    <a:pt x="838771" y="726059"/>
                  </a:lnTo>
                  <a:lnTo>
                    <a:pt x="419671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71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11756" y="147497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07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7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6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11756" y="147497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607" y="0"/>
                  </a:moveTo>
                  <a:lnTo>
                    <a:pt x="838707" y="242062"/>
                  </a:lnTo>
                  <a:lnTo>
                    <a:pt x="838707" y="726059"/>
                  </a:lnTo>
                  <a:lnTo>
                    <a:pt x="419607" y="968121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7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7911" y="0"/>
              <a:ext cx="838835" cy="346075"/>
            </a:xfrm>
            <a:custGeom>
              <a:avLst/>
              <a:gdLst/>
              <a:ahLst/>
              <a:cxnLst/>
              <a:rect l="l" t="t" r="r" b="b"/>
              <a:pathLst>
                <a:path w="838835" h="346075">
                  <a:moveTo>
                    <a:pt x="838708" y="0"/>
                  </a:moveTo>
                  <a:lnTo>
                    <a:pt x="0" y="0"/>
                  </a:lnTo>
                  <a:lnTo>
                    <a:pt x="0" y="103759"/>
                  </a:lnTo>
                  <a:lnTo>
                    <a:pt x="419607" y="345821"/>
                  </a:lnTo>
                  <a:lnTo>
                    <a:pt x="838708" y="103759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80716" y="0"/>
              <a:ext cx="838835" cy="829944"/>
            </a:xfrm>
            <a:custGeom>
              <a:avLst/>
              <a:gdLst/>
              <a:ahLst/>
              <a:cxnLst/>
              <a:rect l="l" t="t" r="r" b="b"/>
              <a:pathLst>
                <a:path w="838835" h="829944">
                  <a:moveTo>
                    <a:pt x="659022" y="0"/>
                  </a:moveTo>
                  <a:lnTo>
                    <a:pt x="180012" y="0"/>
                  </a:lnTo>
                  <a:lnTo>
                    <a:pt x="0" y="103759"/>
                  </a:lnTo>
                  <a:lnTo>
                    <a:pt x="0" y="587883"/>
                  </a:lnTo>
                  <a:lnTo>
                    <a:pt x="419734" y="829945"/>
                  </a:lnTo>
                  <a:lnTo>
                    <a:pt x="838707" y="587883"/>
                  </a:lnTo>
                  <a:lnTo>
                    <a:pt x="838707" y="103759"/>
                  </a:lnTo>
                  <a:lnTo>
                    <a:pt x="659022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0716" y="0"/>
              <a:ext cx="838835" cy="829944"/>
            </a:xfrm>
            <a:custGeom>
              <a:avLst/>
              <a:gdLst/>
              <a:ahLst/>
              <a:cxnLst/>
              <a:rect l="l" t="t" r="r" b="b"/>
              <a:pathLst>
                <a:path w="838835" h="829944">
                  <a:moveTo>
                    <a:pt x="659022" y="0"/>
                  </a:moveTo>
                  <a:lnTo>
                    <a:pt x="838707" y="103759"/>
                  </a:lnTo>
                  <a:lnTo>
                    <a:pt x="838707" y="587883"/>
                  </a:lnTo>
                  <a:lnTo>
                    <a:pt x="419734" y="829945"/>
                  </a:lnTo>
                  <a:lnTo>
                    <a:pt x="0" y="587883"/>
                  </a:lnTo>
                  <a:lnTo>
                    <a:pt x="0" y="103759"/>
                  </a:lnTo>
                  <a:lnTo>
                    <a:pt x="180012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-9525" y="529970"/>
            <a:ext cx="732790" cy="1330325"/>
            <a:chOff x="-9525" y="529970"/>
            <a:chExt cx="732790" cy="1330325"/>
          </a:xfrm>
        </p:grpSpPr>
        <p:sp>
          <p:nvSpPr>
            <p:cNvPr id="26" name="object 26"/>
            <p:cNvSpPr/>
            <p:nvPr/>
          </p:nvSpPr>
          <p:spPr>
            <a:xfrm>
              <a:off x="0" y="1032750"/>
              <a:ext cx="297180" cy="827405"/>
            </a:xfrm>
            <a:custGeom>
              <a:avLst/>
              <a:gdLst/>
              <a:ahLst/>
              <a:cxnLst/>
              <a:rect l="l" t="t" r="r" b="b"/>
              <a:pathLst>
                <a:path w="297180" h="827405">
                  <a:moveTo>
                    <a:pt x="0" y="0"/>
                  </a:moveTo>
                  <a:lnTo>
                    <a:pt x="0" y="826924"/>
                  </a:lnTo>
                  <a:lnTo>
                    <a:pt x="296799" y="655460"/>
                  </a:lnTo>
                  <a:lnTo>
                    <a:pt x="296799" y="171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539495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4233" y="0"/>
                  </a:moveTo>
                  <a:lnTo>
                    <a:pt x="0" y="169696"/>
                  </a:lnTo>
                  <a:lnTo>
                    <a:pt x="0" y="798424"/>
                  </a:lnTo>
                  <a:lnTo>
                    <a:pt x="294233" y="968120"/>
                  </a:lnTo>
                  <a:lnTo>
                    <a:pt x="713232" y="726058"/>
                  </a:lnTo>
                  <a:lnTo>
                    <a:pt x="713232" y="242062"/>
                  </a:lnTo>
                  <a:lnTo>
                    <a:pt x="29423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539495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169696"/>
                  </a:moveTo>
                  <a:lnTo>
                    <a:pt x="294233" y="0"/>
                  </a:lnTo>
                  <a:lnTo>
                    <a:pt x="713232" y="242062"/>
                  </a:lnTo>
                  <a:lnTo>
                    <a:pt x="713232" y="726058"/>
                  </a:lnTo>
                  <a:lnTo>
                    <a:pt x="294233" y="968120"/>
                  </a:lnTo>
                  <a:lnTo>
                    <a:pt x="0" y="79842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367660" y="2651251"/>
            <a:ext cx="1236345" cy="1521460"/>
            <a:chOff x="2367660" y="2651251"/>
            <a:chExt cx="1236345" cy="1521460"/>
          </a:xfrm>
        </p:grpSpPr>
        <p:sp>
          <p:nvSpPr>
            <p:cNvPr id="30" name="object 30"/>
            <p:cNvSpPr/>
            <p:nvPr/>
          </p:nvSpPr>
          <p:spPr>
            <a:xfrm>
              <a:off x="2367660" y="265125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4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734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55518" y="31948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5" y="0"/>
                  </a:moveTo>
                  <a:lnTo>
                    <a:pt x="0" y="241935"/>
                  </a:lnTo>
                  <a:lnTo>
                    <a:pt x="0" y="726033"/>
                  </a:lnTo>
                  <a:lnTo>
                    <a:pt x="419735" y="968057"/>
                  </a:lnTo>
                  <a:lnTo>
                    <a:pt x="838707" y="726033"/>
                  </a:lnTo>
                  <a:lnTo>
                    <a:pt x="838707" y="241935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55518" y="31948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735" y="0"/>
                  </a:moveTo>
                  <a:lnTo>
                    <a:pt x="838707" y="241935"/>
                  </a:lnTo>
                  <a:lnTo>
                    <a:pt x="838707" y="726033"/>
                  </a:lnTo>
                  <a:lnTo>
                    <a:pt x="419735" y="968057"/>
                  </a:lnTo>
                  <a:lnTo>
                    <a:pt x="0" y="726033"/>
                  </a:lnTo>
                  <a:lnTo>
                    <a:pt x="0" y="241935"/>
                  </a:lnTo>
                  <a:lnTo>
                    <a:pt x="419735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3967353" y="1655445"/>
            <a:ext cx="374015" cy="0"/>
          </a:xfrm>
          <a:custGeom>
            <a:avLst/>
            <a:gdLst/>
            <a:ahLst/>
            <a:cxnLst/>
            <a:rect l="l" t="t" r="r" b="b"/>
            <a:pathLst>
              <a:path w="374014">
                <a:moveTo>
                  <a:pt x="0" y="0"/>
                </a:moveTo>
                <a:lnTo>
                  <a:pt x="373507" y="0"/>
                </a:lnTo>
              </a:path>
            </a:pathLst>
          </a:custGeom>
          <a:ln w="19050">
            <a:solidFill>
              <a:srgbClr val="3846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10" h="968375">
                <a:moveTo>
                  <a:pt x="282168" y="0"/>
                </a:moveTo>
                <a:lnTo>
                  <a:pt x="0" y="162927"/>
                </a:lnTo>
                <a:lnTo>
                  <a:pt x="0" y="805095"/>
                </a:lnTo>
                <a:lnTo>
                  <a:pt x="282168" y="968082"/>
                </a:lnTo>
                <a:lnTo>
                  <a:pt x="701878" y="726058"/>
                </a:lnTo>
                <a:lnTo>
                  <a:pt x="701878" y="241934"/>
                </a:lnTo>
                <a:lnTo>
                  <a:pt x="282168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4029796"/>
            <a:ext cx="1031875" cy="1113790"/>
            <a:chOff x="-9525" y="4029796"/>
            <a:chExt cx="1031875" cy="1113790"/>
          </a:xfrm>
        </p:grpSpPr>
        <p:sp>
          <p:nvSpPr>
            <p:cNvPr id="4" name="object 4"/>
            <p:cNvSpPr/>
            <p:nvPr/>
          </p:nvSpPr>
          <p:spPr>
            <a:xfrm>
              <a:off x="183413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5" h="602614">
                  <a:moveTo>
                    <a:pt x="419011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0" y="695601"/>
                  </a:lnTo>
                  <a:lnTo>
                    <a:pt x="183413" y="589828"/>
                  </a:lnTo>
                  <a:lnTo>
                    <a:pt x="183413" y="105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183413" y="105767"/>
                  </a:lnTo>
                  <a:lnTo>
                    <a:pt x="183413" y="589828"/>
                  </a:lnTo>
                  <a:lnTo>
                    <a:pt x="0" y="69560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44207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09" h="968375">
                <a:moveTo>
                  <a:pt x="419734" y="0"/>
                </a:moveTo>
                <a:lnTo>
                  <a:pt x="0" y="241934"/>
                </a:lnTo>
                <a:lnTo>
                  <a:pt x="0" y="726058"/>
                </a:lnTo>
                <a:lnTo>
                  <a:pt x="419734" y="968082"/>
                </a:lnTo>
                <a:lnTo>
                  <a:pt x="701928" y="805070"/>
                </a:lnTo>
                <a:lnTo>
                  <a:pt x="701928" y="162952"/>
                </a:lnTo>
                <a:lnTo>
                  <a:pt x="419734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09154" y="4029821"/>
            <a:ext cx="1444625" cy="1123315"/>
            <a:chOff x="7709154" y="4029821"/>
            <a:chExt cx="1444625" cy="1123315"/>
          </a:xfrm>
        </p:grpSpPr>
        <p:sp>
          <p:nvSpPr>
            <p:cNvPr id="9" name="object 9"/>
            <p:cNvSpPr/>
            <p:nvPr/>
          </p:nvSpPr>
          <p:spPr>
            <a:xfrm>
              <a:off x="8121904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4" h="602614">
                  <a:moveTo>
                    <a:pt x="419735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419735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07" y="363816"/>
                  </a:lnTo>
                  <a:lnTo>
                    <a:pt x="838707" y="24203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838707" y="363816"/>
                  </a:moveTo>
                  <a:lnTo>
                    <a:pt x="838707" y="242030"/>
                  </a:lnTo>
                  <a:lnTo>
                    <a:pt x="419735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7062" y="4770158"/>
            <a:ext cx="857885" cy="382905"/>
            <a:chOff x="577062" y="4770158"/>
            <a:chExt cx="857885" cy="382905"/>
          </a:xfrm>
        </p:grpSpPr>
        <p:sp>
          <p:nvSpPr>
            <p:cNvPr id="15" name="object 15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419709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33" y="363816"/>
                  </a:lnTo>
                  <a:lnTo>
                    <a:pt x="838733" y="242030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838733" y="363816"/>
                  </a:moveTo>
                  <a:lnTo>
                    <a:pt x="838733" y="242030"/>
                  </a:lnTo>
                  <a:lnTo>
                    <a:pt x="419709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776220" y="502665"/>
            <a:ext cx="359346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195" dirty="0"/>
              <a:t>Project</a:t>
            </a:r>
            <a:r>
              <a:rPr sz="3500" spc="-140" dirty="0"/>
              <a:t> </a:t>
            </a:r>
            <a:r>
              <a:rPr sz="3500" spc="200" dirty="0"/>
              <a:t>Overview</a:t>
            </a:r>
            <a:endParaRPr sz="3500"/>
          </a:p>
        </p:txBody>
      </p:sp>
      <p:sp>
        <p:nvSpPr>
          <p:cNvPr id="18" name="object 18"/>
          <p:cNvSpPr txBox="1"/>
          <p:nvPr/>
        </p:nvSpPr>
        <p:spPr>
          <a:xfrm>
            <a:off x="919073" y="1929206"/>
            <a:ext cx="698500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2560" indent="-149860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162560" algn="l"/>
              </a:tabLst>
            </a:pPr>
            <a:r>
              <a:rPr sz="2000" b="1" u="sng" spc="1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Objective</a:t>
            </a:r>
            <a:r>
              <a:rPr sz="2000" b="1" u="none" spc="150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000" b="1" u="none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95" dirty="0">
                <a:solidFill>
                  <a:srgbClr val="384654"/>
                </a:solidFill>
                <a:latin typeface="Calibri"/>
                <a:cs typeface="Calibri"/>
              </a:rPr>
              <a:t>Identify</a:t>
            </a:r>
            <a:r>
              <a:rPr sz="2000" u="none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05" dirty="0">
                <a:solidFill>
                  <a:srgbClr val="384654"/>
                </a:solidFill>
                <a:latin typeface="Calibri"/>
                <a:cs typeface="Calibri"/>
              </a:rPr>
              <a:t>control </a:t>
            </a:r>
            <a:r>
              <a:rPr sz="2000" u="none" spc="13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20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2000" u="none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2000" u="none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35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20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70" dirty="0">
                <a:solidFill>
                  <a:srgbClr val="384654"/>
                </a:solidFill>
                <a:latin typeface="Calibri"/>
                <a:cs typeface="Calibri"/>
              </a:rPr>
              <a:t>based</a:t>
            </a:r>
            <a:r>
              <a:rPr sz="2000" u="none" spc="90" dirty="0">
                <a:solidFill>
                  <a:srgbClr val="384654"/>
                </a:solidFill>
                <a:latin typeface="Calibri"/>
                <a:cs typeface="Calibri"/>
              </a:rPr>
              <a:t> 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125" dirty="0">
                <a:solidFill>
                  <a:srgbClr val="384654"/>
                </a:solidFill>
                <a:latin typeface="Calibri"/>
                <a:cs typeface="Calibri"/>
              </a:rPr>
              <a:t>sales</a:t>
            </a:r>
            <a:r>
              <a:rPr sz="20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384654"/>
                </a:solidFill>
                <a:latin typeface="Calibri"/>
                <a:cs typeface="Calibri"/>
              </a:rPr>
              <a:t>performance</a:t>
            </a:r>
            <a:r>
              <a:rPr sz="20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spc="95" dirty="0">
                <a:solidFill>
                  <a:srgbClr val="384654"/>
                </a:solidFill>
                <a:latin typeface="Calibri"/>
                <a:cs typeface="Calibri"/>
              </a:rPr>
              <a:t>metrics.</a:t>
            </a:r>
            <a:endParaRPr sz="2000">
              <a:latin typeface="Calibri"/>
              <a:cs typeface="Calibri"/>
            </a:endParaRPr>
          </a:p>
          <a:p>
            <a:pPr marL="12700" marR="404495" indent="149860">
              <a:lnSpc>
                <a:spcPct val="100000"/>
              </a:lnSpc>
              <a:buFont typeface="Calibri"/>
              <a:buChar char="•"/>
              <a:tabLst>
                <a:tab pos="162560" algn="l"/>
              </a:tabLst>
            </a:pPr>
            <a:r>
              <a:rPr sz="2000" b="1" u="sng" spc="1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Dataset</a:t>
            </a:r>
            <a:r>
              <a:rPr sz="2000" b="1" u="none" spc="140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000" b="1" u="none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45" dirty="0">
                <a:solidFill>
                  <a:srgbClr val="384654"/>
                </a:solidFill>
                <a:latin typeface="Calibri"/>
                <a:cs typeface="Calibri"/>
              </a:rPr>
              <a:t>Cleaned</a:t>
            </a:r>
            <a:r>
              <a:rPr sz="2000" u="none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35" dirty="0">
                <a:solidFill>
                  <a:srgbClr val="384654"/>
                </a:solidFill>
                <a:latin typeface="Calibri"/>
                <a:cs typeface="Calibri"/>
              </a:rPr>
              <a:t>dataset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65" dirty="0">
                <a:solidFill>
                  <a:srgbClr val="384654"/>
                </a:solidFill>
                <a:latin typeface="Calibri"/>
                <a:cs typeface="Calibri"/>
              </a:rPr>
              <a:t>with</a:t>
            </a:r>
            <a:r>
              <a:rPr sz="2000" u="none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35" dirty="0">
                <a:solidFill>
                  <a:srgbClr val="384654"/>
                </a:solidFill>
                <a:latin typeface="Calibri"/>
                <a:cs typeface="Calibri"/>
              </a:rPr>
              <a:t>264,834</a:t>
            </a:r>
            <a:r>
              <a:rPr sz="2000" u="none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45" dirty="0">
                <a:solidFill>
                  <a:srgbClr val="384654"/>
                </a:solidFill>
                <a:latin typeface="Calibri"/>
                <a:cs typeface="Calibri"/>
              </a:rPr>
              <a:t>records</a:t>
            </a:r>
            <a:r>
              <a:rPr sz="2000" u="none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3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2000" u="none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-25" dirty="0">
                <a:solidFill>
                  <a:srgbClr val="384654"/>
                </a:solidFill>
                <a:latin typeface="Calibri"/>
                <a:cs typeface="Calibri"/>
              </a:rPr>
              <a:t>12 </a:t>
            </a:r>
            <a:r>
              <a:rPr sz="2000" u="none" spc="95" dirty="0">
                <a:solidFill>
                  <a:srgbClr val="384654"/>
                </a:solidFill>
                <a:latin typeface="Calibri"/>
                <a:cs typeface="Calibri"/>
              </a:rPr>
              <a:t>columns.</a:t>
            </a:r>
            <a:endParaRPr sz="2000">
              <a:latin typeface="Calibri"/>
              <a:cs typeface="Calibri"/>
            </a:endParaRPr>
          </a:p>
          <a:p>
            <a:pPr marL="162560" indent="-149860">
              <a:lnSpc>
                <a:spcPct val="100000"/>
              </a:lnSpc>
              <a:buFont typeface="Calibri"/>
              <a:buChar char="•"/>
              <a:tabLst>
                <a:tab pos="162560" algn="l"/>
              </a:tabLst>
            </a:pPr>
            <a:r>
              <a:rPr sz="2000" b="1" u="sng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Trial</a:t>
            </a:r>
            <a:r>
              <a:rPr sz="2000" b="1" u="sng" spc="-1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Stores</a:t>
            </a:r>
            <a:r>
              <a:rPr sz="2000" b="1" u="none" spc="135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000" b="1" u="none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dirty="0">
                <a:solidFill>
                  <a:srgbClr val="384654"/>
                </a:solidFill>
                <a:latin typeface="Calibri"/>
                <a:cs typeface="Calibri"/>
              </a:rPr>
              <a:t>77,</a:t>
            </a:r>
            <a:r>
              <a:rPr sz="2000" u="none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00" dirty="0">
                <a:solidFill>
                  <a:srgbClr val="384654"/>
                </a:solidFill>
                <a:latin typeface="Calibri"/>
                <a:cs typeface="Calibri"/>
              </a:rPr>
              <a:t>86,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75" dirty="0">
                <a:solidFill>
                  <a:srgbClr val="384654"/>
                </a:solidFill>
                <a:latin typeface="Calibri"/>
                <a:cs typeface="Calibri"/>
              </a:rPr>
              <a:t>88</a:t>
            </a:r>
            <a:endParaRPr sz="2000">
              <a:latin typeface="Calibri"/>
              <a:cs typeface="Calibri"/>
            </a:endParaRPr>
          </a:p>
          <a:p>
            <a:pPr marL="162560" indent="-149860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62560" algn="l"/>
              </a:tabLst>
            </a:pPr>
            <a:r>
              <a:rPr sz="2000" b="1" u="sng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Trial</a:t>
            </a:r>
            <a:r>
              <a:rPr sz="2000" b="1" u="sng" spc="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0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Period</a:t>
            </a:r>
            <a:r>
              <a:rPr sz="2000" b="1" u="none" spc="105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000" b="1" u="none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20" dirty="0">
                <a:solidFill>
                  <a:srgbClr val="384654"/>
                </a:solidFill>
                <a:latin typeface="Calibri"/>
                <a:cs typeface="Calibri"/>
              </a:rPr>
              <a:t>February</a:t>
            </a:r>
            <a:r>
              <a:rPr sz="2000" u="none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85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280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2000" u="none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April</a:t>
            </a:r>
            <a:r>
              <a:rPr sz="2000" u="none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65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endParaRPr sz="2000">
              <a:latin typeface="Calibri"/>
              <a:cs typeface="Calibri"/>
            </a:endParaRPr>
          </a:p>
          <a:p>
            <a:pPr marL="162560" indent="-149860">
              <a:lnSpc>
                <a:spcPct val="100000"/>
              </a:lnSpc>
              <a:buFont typeface="Calibri"/>
              <a:buChar char="•"/>
              <a:tabLst>
                <a:tab pos="162560" algn="l"/>
              </a:tabLst>
            </a:pPr>
            <a:r>
              <a:rPr sz="2000" b="1" u="sng" spc="15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</a:t>
            </a:r>
            <a:r>
              <a:rPr sz="2000" b="1" u="sng" spc="-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114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Range</a:t>
            </a:r>
            <a:r>
              <a:rPr sz="2000" b="1" u="none" spc="114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000" b="1" u="none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60" dirty="0">
                <a:solidFill>
                  <a:srgbClr val="384654"/>
                </a:solidFill>
                <a:latin typeface="Calibri"/>
                <a:cs typeface="Calibri"/>
              </a:rPr>
              <a:t>July</a:t>
            </a:r>
            <a:r>
              <a:rPr sz="2000" u="none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75" dirty="0">
                <a:solidFill>
                  <a:srgbClr val="384654"/>
                </a:solidFill>
                <a:latin typeface="Calibri"/>
                <a:cs typeface="Calibri"/>
              </a:rPr>
              <a:t>2018</a:t>
            </a:r>
            <a:r>
              <a:rPr sz="2000" u="none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280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2000" u="none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170" dirty="0">
                <a:solidFill>
                  <a:srgbClr val="384654"/>
                </a:solidFill>
                <a:latin typeface="Calibri"/>
                <a:cs typeface="Calibri"/>
              </a:rPr>
              <a:t>June</a:t>
            </a:r>
            <a:r>
              <a:rPr sz="2000" u="none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000" u="none" spc="60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-4762" y="-4762"/>
            <a:ext cx="9153525" cy="25400"/>
            <a:chOff x="-4762" y="-4762"/>
            <a:chExt cx="9153525" cy="25400"/>
          </a:xfrm>
        </p:grpSpPr>
        <p:sp>
          <p:nvSpPr>
            <p:cNvPr id="20" name="object 20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9144000" y="0"/>
                  </a:moveTo>
                  <a:lnTo>
                    <a:pt x="0" y="0"/>
                  </a:lnTo>
                  <a:lnTo>
                    <a:pt x="0" y="15875"/>
                  </a:lnTo>
                  <a:lnTo>
                    <a:pt x="9144000" y="158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0" y="15875"/>
                  </a:moveTo>
                  <a:lnTo>
                    <a:pt x="9144000" y="1587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ln w="9525">
              <a:solidFill>
                <a:srgbClr val="3846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10" h="968375">
                <a:moveTo>
                  <a:pt x="282168" y="0"/>
                </a:moveTo>
                <a:lnTo>
                  <a:pt x="0" y="162927"/>
                </a:lnTo>
                <a:lnTo>
                  <a:pt x="0" y="805095"/>
                </a:lnTo>
                <a:lnTo>
                  <a:pt x="282168" y="968082"/>
                </a:lnTo>
                <a:lnTo>
                  <a:pt x="701878" y="726058"/>
                </a:lnTo>
                <a:lnTo>
                  <a:pt x="701878" y="241934"/>
                </a:lnTo>
                <a:lnTo>
                  <a:pt x="282168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4029796"/>
            <a:ext cx="1031875" cy="1113790"/>
            <a:chOff x="-9525" y="4029796"/>
            <a:chExt cx="1031875" cy="1113790"/>
          </a:xfrm>
        </p:grpSpPr>
        <p:sp>
          <p:nvSpPr>
            <p:cNvPr id="4" name="object 4"/>
            <p:cNvSpPr/>
            <p:nvPr/>
          </p:nvSpPr>
          <p:spPr>
            <a:xfrm>
              <a:off x="183413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5" h="602614">
                  <a:moveTo>
                    <a:pt x="419011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0" y="695601"/>
                  </a:lnTo>
                  <a:lnTo>
                    <a:pt x="183413" y="589828"/>
                  </a:lnTo>
                  <a:lnTo>
                    <a:pt x="183413" y="105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039321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0" y="0"/>
                  </a:moveTo>
                  <a:lnTo>
                    <a:pt x="183413" y="105767"/>
                  </a:lnTo>
                  <a:lnTo>
                    <a:pt x="183413" y="589828"/>
                  </a:lnTo>
                  <a:lnTo>
                    <a:pt x="0" y="69560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442070" y="3436620"/>
            <a:ext cx="702310" cy="968375"/>
          </a:xfrm>
          <a:custGeom>
            <a:avLst/>
            <a:gdLst/>
            <a:ahLst/>
            <a:cxnLst/>
            <a:rect l="l" t="t" r="r" b="b"/>
            <a:pathLst>
              <a:path w="702309" h="968375">
                <a:moveTo>
                  <a:pt x="419734" y="0"/>
                </a:moveTo>
                <a:lnTo>
                  <a:pt x="0" y="241934"/>
                </a:lnTo>
                <a:lnTo>
                  <a:pt x="0" y="726058"/>
                </a:lnTo>
                <a:lnTo>
                  <a:pt x="419734" y="968082"/>
                </a:lnTo>
                <a:lnTo>
                  <a:pt x="701928" y="805070"/>
                </a:lnTo>
                <a:lnTo>
                  <a:pt x="701928" y="162952"/>
                </a:lnTo>
                <a:lnTo>
                  <a:pt x="419734" y="0"/>
                </a:lnTo>
                <a:close/>
              </a:path>
            </a:pathLst>
          </a:custGeom>
          <a:solidFill>
            <a:srgbClr val="9FC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09154" y="4029821"/>
            <a:ext cx="1444625" cy="1123315"/>
            <a:chOff x="7709154" y="4029821"/>
            <a:chExt cx="1444625" cy="1123315"/>
          </a:xfrm>
        </p:grpSpPr>
        <p:sp>
          <p:nvSpPr>
            <p:cNvPr id="9" name="object 9"/>
            <p:cNvSpPr/>
            <p:nvPr/>
          </p:nvSpPr>
          <p:spPr>
            <a:xfrm>
              <a:off x="8121904" y="4540910"/>
              <a:ext cx="838835" cy="602615"/>
            </a:xfrm>
            <a:custGeom>
              <a:avLst/>
              <a:gdLst/>
              <a:ahLst/>
              <a:cxnLst/>
              <a:rect l="l" t="t" r="r" b="b"/>
              <a:pathLst>
                <a:path w="838834" h="602614">
                  <a:moveTo>
                    <a:pt x="419735" y="0"/>
                  </a:moveTo>
                  <a:lnTo>
                    <a:pt x="0" y="242036"/>
                  </a:lnTo>
                  <a:lnTo>
                    <a:pt x="0" y="602589"/>
                  </a:lnTo>
                  <a:lnTo>
                    <a:pt x="838707" y="602589"/>
                  </a:lnTo>
                  <a:lnTo>
                    <a:pt x="838707" y="242036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  <a:lnTo>
                    <a:pt x="18338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60612" y="4039346"/>
              <a:ext cx="183515" cy="695960"/>
            </a:xfrm>
            <a:custGeom>
              <a:avLst/>
              <a:gdLst/>
              <a:ahLst/>
              <a:cxnLst/>
              <a:rect l="l" t="t" r="r" b="b"/>
              <a:pathLst>
                <a:path w="183515" h="695960">
                  <a:moveTo>
                    <a:pt x="183388" y="0"/>
                  </a:moveTo>
                  <a:lnTo>
                    <a:pt x="0" y="105743"/>
                  </a:lnTo>
                  <a:lnTo>
                    <a:pt x="0" y="589804"/>
                  </a:lnTo>
                  <a:lnTo>
                    <a:pt x="183388" y="6955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419735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07" y="363816"/>
                  </a:lnTo>
                  <a:lnTo>
                    <a:pt x="838707" y="24203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8679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4" h="363854">
                  <a:moveTo>
                    <a:pt x="838707" y="363816"/>
                  </a:moveTo>
                  <a:lnTo>
                    <a:pt x="838707" y="242030"/>
                  </a:lnTo>
                  <a:lnTo>
                    <a:pt x="419735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7062" y="4770158"/>
            <a:ext cx="857885" cy="382905"/>
            <a:chOff x="577062" y="4770158"/>
            <a:chExt cx="857885" cy="382905"/>
          </a:xfrm>
        </p:grpSpPr>
        <p:sp>
          <p:nvSpPr>
            <p:cNvPr id="15" name="object 15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419709" y="0"/>
                  </a:moveTo>
                  <a:lnTo>
                    <a:pt x="0" y="242030"/>
                  </a:lnTo>
                  <a:lnTo>
                    <a:pt x="0" y="363816"/>
                  </a:lnTo>
                  <a:lnTo>
                    <a:pt x="838733" y="363816"/>
                  </a:lnTo>
                  <a:lnTo>
                    <a:pt x="838733" y="242030"/>
                  </a:lnTo>
                  <a:lnTo>
                    <a:pt x="419709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587" y="4779683"/>
              <a:ext cx="838835" cy="363855"/>
            </a:xfrm>
            <a:custGeom>
              <a:avLst/>
              <a:gdLst/>
              <a:ahLst/>
              <a:cxnLst/>
              <a:rect l="l" t="t" r="r" b="b"/>
              <a:pathLst>
                <a:path w="838835" h="363854">
                  <a:moveTo>
                    <a:pt x="838733" y="363816"/>
                  </a:moveTo>
                  <a:lnTo>
                    <a:pt x="838733" y="242030"/>
                  </a:lnTo>
                  <a:lnTo>
                    <a:pt x="419709" y="0"/>
                  </a:lnTo>
                  <a:lnTo>
                    <a:pt x="0" y="242030"/>
                  </a:lnTo>
                  <a:lnTo>
                    <a:pt x="0" y="3638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183383" y="364693"/>
            <a:ext cx="477647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0" marR="5080" indent="-1022985">
              <a:lnSpc>
                <a:spcPct val="100000"/>
              </a:lnSpc>
              <a:spcBef>
                <a:spcPts val="105"/>
              </a:spcBef>
            </a:pPr>
            <a:r>
              <a:rPr sz="3500" spc="200" dirty="0"/>
              <a:t>Control</a:t>
            </a:r>
            <a:r>
              <a:rPr sz="3500" spc="-155" dirty="0"/>
              <a:t> </a:t>
            </a:r>
            <a:r>
              <a:rPr sz="3500" spc="229" dirty="0"/>
              <a:t>Store</a:t>
            </a:r>
            <a:r>
              <a:rPr sz="3500" spc="-150" dirty="0"/>
              <a:t> </a:t>
            </a:r>
            <a:r>
              <a:rPr sz="3500" spc="150" dirty="0"/>
              <a:t>Selection </a:t>
            </a:r>
            <a:r>
              <a:rPr sz="3500" spc="135" dirty="0"/>
              <a:t>Methodology</a:t>
            </a:r>
            <a:endParaRPr sz="3500"/>
          </a:p>
        </p:txBody>
      </p:sp>
      <p:sp>
        <p:nvSpPr>
          <p:cNvPr id="18" name="object 18"/>
          <p:cNvSpPr txBox="1"/>
          <p:nvPr/>
        </p:nvSpPr>
        <p:spPr>
          <a:xfrm>
            <a:off x="1059281" y="1654200"/>
            <a:ext cx="4012565" cy="3050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spc="125" dirty="0">
                <a:solidFill>
                  <a:srgbClr val="384654"/>
                </a:solidFill>
                <a:latin typeface="Calibri"/>
                <a:cs typeface="Calibri"/>
              </a:rPr>
              <a:t>Performance</a:t>
            </a:r>
            <a:r>
              <a:rPr sz="16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95" dirty="0">
                <a:solidFill>
                  <a:srgbClr val="384654"/>
                </a:solidFill>
                <a:latin typeface="Calibri"/>
                <a:cs typeface="Calibri"/>
              </a:rPr>
              <a:t>Similarity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85" dirty="0">
                <a:solidFill>
                  <a:srgbClr val="384654"/>
                </a:solidFill>
                <a:latin typeface="Calibri"/>
                <a:cs typeface="Calibri"/>
              </a:rPr>
              <a:t>Measures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9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Total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Sales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Revenue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Total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Number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of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Average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Transactions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per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384654"/>
              </a:buClr>
              <a:buFont typeface="Arial"/>
              <a:buChar char="•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120" dirty="0">
                <a:solidFill>
                  <a:srgbClr val="384654"/>
                </a:solidFill>
                <a:latin typeface="Calibri"/>
                <a:cs typeface="Calibri"/>
              </a:rPr>
              <a:t>Methods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80" dirty="0">
                <a:solidFill>
                  <a:srgbClr val="384654"/>
                </a:solidFill>
                <a:latin typeface="Calibri"/>
                <a:cs typeface="Calibri"/>
              </a:rPr>
              <a:t>Used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9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Magnitude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Distance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Formula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Pearson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Correlation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384654"/>
              </a:buClr>
              <a:buFont typeface="Arial"/>
              <a:buChar char="•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165" dirty="0">
                <a:solidFill>
                  <a:srgbClr val="384654"/>
                </a:solidFill>
                <a:latin typeface="Calibri"/>
                <a:cs typeface="Calibri"/>
              </a:rPr>
              <a:t>Pre-</a:t>
            </a:r>
            <a:r>
              <a:rPr sz="1600" b="1" spc="7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0" dirty="0">
                <a:solidFill>
                  <a:srgbClr val="384654"/>
                </a:solidFill>
                <a:latin typeface="Calibri"/>
                <a:cs typeface="Calibri"/>
              </a:rPr>
              <a:t>&amp;</a:t>
            </a:r>
            <a:r>
              <a:rPr sz="16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7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6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105" dirty="0">
                <a:solidFill>
                  <a:srgbClr val="384654"/>
                </a:solidFill>
                <a:latin typeface="Calibri"/>
                <a:cs typeface="Calibri"/>
              </a:rPr>
              <a:t>Period</a:t>
            </a:r>
            <a:r>
              <a:rPr sz="16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b="1" spc="60" dirty="0">
                <a:solidFill>
                  <a:srgbClr val="384654"/>
                </a:solidFill>
                <a:latin typeface="Calibri"/>
                <a:cs typeface="Calibri"/>
              </a:rPr>
              <a:t>Division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9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spc="130" dirty="0">
                <a:solidFill>
                  <a:srgbClr val="384654"/>
                </a:solidFill>
                <a:latin typeface="Calibri"/>
                <a:cs typeface="Calibri"/>
              </a:rPr>
              <a:t>Pre-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trial: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July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2018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220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January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35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endParaRPr sz="1600">
              <a:latin typeface="Calibri"/>
              <a:cs typeface="Calibri"/>
            </a:endParaRPr>
          </a:p>
          <a:p>
            <a:pPr marL="615950" indent="-286385">
              <a:lnSpc>
                <a:spcPct val="10000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615950" algn="l"/>
              </a:tabLst>
            </a:pP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Trial: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February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215" dirty="0">
                <a:solidFill>
                  <a:srgbClr val="384654"/>
                </a:solidFill>
                <a:latin typeface="Calibri"/>
                <a:cs typeface="Calibri"/>
              </a:rPr>
              <a:t>–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April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35" dirty="0">
                <a:solidFill>
                  <a:srgbClr val="384654"/>
                </a:solidFill>
                <a:latin typeface="Calibri"/>
                <a:cs typeface="Calibri"/>
              </a:rPr>
              <a:t>2019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363727"/>
            <a:ext cx="646303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200" dirty="0"/>
              <a:t>Control</a:t>
            </a:r>
            <a:r>
              <a:rPr sz="3500" spc="-140" dirty="0"/>
              <a:t> </a:t>
            </a:r>
            <a:r>
              <a:rPr sz="3500" spc="229" dirty="0"/>
              <a:t>Store</a:t>
            </a:r>
            <a:r>
              <a:rPr sz="3500" spc="-135" dirty="0"/>
              <a:t> </a:t>
            </a:r>
            <a:r>
              <a:rPr sz="3500" spc="160" dirty="0"/>
              <a:t>Selection</a:t>
            </a:r>
            <a:r>
              <a:rPr sz="3500" spc="-145" dirty="0"/>
              <a:t> </a:t>
            </a:r>
            <a:r>
              <a:rPr sz="3500" spc="210" dirty="0"/>
              <a:t>Process</a:t>
            </a:r>
            <a:endParaRPr sz="3500"/>
          </a:p>
        </p:txBody>
      </p:sp>
      <p:grpSp>
        <p:nvGrpSpPr>
          <p:cNvPr id="3" name="object 3"/>
          <p:cNvGrpSpPr/>
          <p:nvPr/>
        </p:nvGrpSpPr>
        <p:grpSpPr>
          <a:xfrm>
            <a:off x="6036436" y="1322958"/>
            <a:ext cx="1082040" cy="1607820"/>
            <a:chOff x="6036436" y="1322958"/>
            <a:chExt cx="1082040" cy="1607820"/>
          </a:xfrm>
        </p:grpSpPr>
        <p:sp>
          <p:nvSpPr>
            <p:cNvPr id="4" name="object 4"/>
            <p:cNvSpPr/>
            <p:nvPr/>
          </p:nvSpPr>
          <p:spPr>
            <a:xfrm>
              <a:off x="6036436" y="196215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69735" y="133248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85"/>
                  </a:lnTo>
                  <a:lnTo>
                    <a:pt x="418972" y="968120"/>
                  </a:lnTo>
                  <a:lnTo>
                    <a:pt x="838708" y="726185"/>
                  </a:lnTo>
                  <a:lnTo>
                    <a:pt x="838708" y="242062"/>
                  </a:lnTo>
                  <a:lnTo>
                    <a:pt x="418972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421376" y="4215879"/>
            <a:ext cx="1247775" cy="937260"/>
            <a:chOff x="5421376" y="4215879"/>
            <a:chExt cx="1247775" cy="937260"/>
          </a:xfrm>
        </p:grpSpPr>
        <p:sp>
          <p:nvSpPr>
            <p:cNvPr id="8" name="object 8"/>
            <p:cNvSpPr/>
            <p:nvPr/>
          </p:nvSpPr>
          <p:spPr>
            <a:xfrm>
              <a:off x="5830443" y="4215879"/>
              <a:ext cx="838835" cy="927735"/>
            </a:xfrm>
            <a:custGeom>
              <a:avLst/>
              <a:gdLst/>
              <a:ahLst/>
              <a:cxnLst/>
              <a:rect l="l" t="t" r="r" b="b"/>
              <a:pathLst>
                <a:path w="838834" h="927735">
                  <a:moveTo>
                    <a:pt x="419100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348962" y="927620"/>
                  </a:lnTo>
                  <a:lnTo>
                    <a:pt x="489322" y="927620"/>
                  </a:lnTo>
                  <a:lnTo>
                    <a:pt x="838708" y="726097"/>
                  </a:lnTo>
                  <a:lnTo>
                    <a:pt x="838708" y="242036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418973" y="0"/>
                  </a:moveTo>
                  <a:lnTo>
                    <a:pt x="0" y="242023"/>
                  </a:lnTo>
                  <a:lnTo>
                    <a:pt x="0" y="492582"/>
                  </a:lnTo>
                  <a:lnTo>
                    <a:pt x="838708" y="492582"/>
                  </a:lnTo>
                  <a:lnTo>
                    <a:pt x="838708" y="242023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30901" y="4650918"/>
              <a:ext cx="838835" cy="492759"/>
            </a:xfrm>
            <a:custGeom>
              <a:avLst/>
              <a:gdLst/>
              <a:ahLst/>
              <a:cxnLst/>
              <a:rect l="l" t="t" r="r" b="b"/>
              <a:pathLst>
                <a:path w="838835" h="492760">
                  <a:moveTo>
                    <a:pt x="0" y="492582"/>
                  </a:moveTo>
                  <a:lnTo>
                    <a:pt x="0" y="242023"/>
                  </a:lnTo>
                  <a:lnTo>
                    <a:pt x="418973" y="0"/>
                  </a:lnTo>
                  <a:lnTo>
                    <a:pt x="838708" y="242023"/>
                  </a:lnTo>
                  <a:lnTo>
                    <a:pt x="838708" y="49258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9735" y="-9525"/>
            <a:ext cx="2884170" cy="5099685"/>
            <a:chOff x="6269735" y="-9525"/>
            <a:chExt cx="2884170" cy="5099685"/>
          </a:xfrm>
        </p:grpSpPr>
        <p:sp>
          <p:nvSpPr>
            <p:cNvPr id="12" name="object 12"/>
            <p:cNvSpPr/>
            <p:nvPr/>
          </p:nvSpPr>
          <p:spPr>
            <a:xfrm>
              <a:off x="7368539" y="98882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5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09484" y="216611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69735" y="0"/>
              <a:ext cx="838835" cy="522605"/>
            </a:xfrm>
            <a:custGeom>
              <a:avLst/>
              <a:gdLst/>
              <a:ahLst/>
              <a:cxnLst/>
              <a:rect l="l" t="t" r="r" b="b"/>
              <a:pathLst>
                <a:path w="838834" h="522605">
                  <a:moveTo>
                    <a:pt x="838708" y="0"/>
                  </a:moveTo>
                  <a:lnTo>
                    <a:pt x="0" y="0"/>
                  </a:lnTo>
                  <a:lnTo>
                    <a:pt x="0" y="280288"/>
                  </a:lnTo>
                  <a:lnTo>
                    <a:pt x="418972" y="522350"/>
                  </a:lnTo>
                  <a:lnTo>
                    <a:pt x="838708" y="280288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30767" y="234188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713231" y="798510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09484" y="261823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62391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62391" y="131800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100" y="968121"/>
                  </a:lnTo>
                  <a:lnTo>
                    <a:pt x="838707" y="726059"/>
                  </a:lnTo>
                  <a:lnTo>
                    <a:pt x="838707" y="242062"/>
                  </a:lnTo>
                  <a:lnTo>
                    <a:pt x="41910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51904" y="311086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47"/>
                  </a:lnTo>
                  <a:lnTo>
                    <a:pt x="418973" y="968184"/>
                  </a:lnTo>
                  <a:lnTo>
                    <a:pt x="838708" y="726147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90308" y="35485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968184"/>
                  </a:moveTo>
                  <a:lnTo>
                    <a:pt x="0" y="726147"/>
                  </a:lnTo>
                  <a:lnTo>
                    <a:pt x="0" y="242062"/>
                  </a:lnTo>
                  <a:lnTo>
                    <a:pt x="418973" y="0"/>
                  </a:lnTo>
                  <a:lnTo>
                    <a:pt x="838708" y="242062"/>
                  </a:lnTo>
                  <a:lnTo>
                    <a:pt x="838708" y="726147"/>
                  </a:lnTo>
                  <a:lnTo>
                    <a:pt x="418973" y="96818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78798" y="2668777"/>
              <a:ext cx="465455" cy="968375"/>
            </a:xfrm>
            <a:custGeom>
              <a:avLst/>
              <a:gdLst/>
              <a:ahLst/>
              <a:cxnLst/>
              <a:rect l="l" t="t" r="r" b="b"/>
              <a:pathLst>
                <a:path w="46545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465200" y="941475"/>
                  </a:lnTo>
                  <a:lnTo>
                    <a:pt x="465200" y="2665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30767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  <a:lnTo>
                    <a:pt x="713231" y="169699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30767" y="2235961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713231" y="169699"/>
                  </a:moveTo>
                  <a:lnTo>
                    <a:pt x="418973" y="0"/>
                  </a:ln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713231" y="79842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87"/>
                  </a:lnTo>
                  <a:lnTo>
                    <a:pt x="0" y="726147"/>
                  </a:lnTo>
                  <a:lnTo>
                    <a:pt x="419100" y="968171"/>
                  </a:lnTo>
                  <a:lnTo>
                    <a:pt x="838707" y="726147"/>
                  </a:lnTo>
                  <a:lnTo>
                    <a:pt x="838707" y="242087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9744" y="36368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71"/>
                  </a:moveTo>
                  <a:lnTo>
                    <a:pt x="0" y="726147"/>
                  </a:lnTo>
                  <a:lnTo>
                    <a:pt x="0" y="242087"/>
                  </a:lnTo>
                  <a:lnTo>
                    <a:pt x="419100" y="0"/>
                  </a:lnTo>
                  <a:lnTo>
                    <a:pt x="838707" y="242087"/>
                  </a:lnTo>
                  <a:lnTo>
                    <a:pt x="838707" y="726147"/>
                  </a:lnTo>
                  <a:lnTo>
                    <a:pt x="419100" y="96817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97215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100" y="968119"/>
                  </a:lnTo>
                  <a:lnTo>
                    <a:pt x="838707" y="726084"/>
                  </a:lnTo>
                  <a:lnTo>
                    <a:pt x="838707" y="24202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97215" y="411247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9100" y="968119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9100" y="0"/>
                  </a:lnTo>
                  <a:lnTo>
                    <a:pt x="838707" y="242023"/>
                  </a:lnTo>
                  <a:lnTo>
                    <a:pt x="838707" y="726084"/>
                  </a:lnTo>
                  <a:lnTo>
                    <a:pt x="419100" y="9681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28129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28129" y="11252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4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8" y="726058"/>
                  </a:lnTo>
                  <a:lnTo>
                    <a:pt x="838708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25104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0" y="0"/>
                  </a:lnTo>
                  <a:lnTo>
                    <a:pt x="0" y="474599"/>
                  </a:lnTo>
                  <a:lnTo>
                    <a:pt x="419100" y="716661"/>
                  </a:lnTo>
                  <a:lnTo>
                    <a:pt x="838708" y="474599"/>
                  </a:lnTo>
                  <a:lnTo>
                    <a:pt x="8387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25104" y="0"/>
              <a:ext cx="838835" cy="716915"/>
            </a:xfrm>
            <a:custGeom>
              <a:avLst/>
              <a:gdLst/>
              <a:ahLst/>
              <a:cxnLst/>
              <a:rect l="l" t="t" r="r" b="b"/>
              <a:pathLst>
                <a:path w="838834" h="716915">
                  <a:moveTo>
                    <a:pt x="838708" y="0"/>
                  </a:moveTo>
                  <a:lnTo>
                    <a:pt x="838708" y="474599"/>
                  </a:lnTo>
                  <a:lnTo>
                    <a:pt x="419100" y="716661"/>
                  </a:lnTo>
                  <a:lnTo>
                    <a:pt x="0" y="474599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0167" y="1238453"/>
            <a:ext cx="5393055" cy="3684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sng" spc="1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Data</a:t>
            </a:r>
            <a:r>
              <a:rPr sz="1600" b="1" u="sng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1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Preprocessing: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spcBef>
                <a:spcPts val="5"/>
              </a:spcBef>
              <a:buChar char="•"/>
              <a:tabLst>
                <a:tab pos="595630" algn="l"/>
              </a:tabLst>
            </a:pP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Converted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DATE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column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 datetime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format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Filtered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dataset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required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date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range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Removed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'French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Fried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Potato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Chips'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records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u="sng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Aggregated</a:t>
            </a:r>
            <a:r>
              <a:rPr sz="1600" b="1" u="sng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Store</a:t>
            </a:r>
            <a:r>
              <a:rPr sz="1600" b="1" u="sng" spc="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8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Metrics:</a:t>
            </a:r>
            <a:endParaRPr sz="1600">
              <a:latin typeface="Calibri"/>
              <a:cs typeface="Calibri"/>
            </a:endParaRPr>
          </a:p>
          <a:p>
            <a:pPr marL="469900" marR="107950" indent="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135" dirty="0">
                <a:solidFill>
                  <a:srgbClr val="384654"/>
                </a:solidFill>
                <a:latin typeface="Calibri"/>
                <a:cs typeface="Calibri"/>
              </a:rPr>
              <a:t>Computed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0" dirty="0">
                <a:solidFill>
                  <a:srgbClr val="384654"/>
                </a:solidFill>
                <a:latin typeface="Calibri"/>
                <a:cs typeface="Calibri"/>
              </a:rPr>
              <a:t>total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sales,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unique </a:t>
            </a:r>
            <a:r>
              <a:rPr sz="1600" spc="95" dirty="0">
                <a:solidFill>
                  <a:srgbClr val="384654"/>
                </a:solidFill>
                <a:latin typeface="Calibri"/>
                <a:cs typeface="Calibri"/>
              </a:rPr>
              <a:t>customers,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30" dirty="0">
                <a:solidFill>
                  <a:srgbClr val="384654"/>
                </a:solidFill>
                <a:latin typeface="Calibri"/>
                <a:cs typeface="Calibri"/>
              </a:rPr>
              <a:t>avg. </a:t>
            </a:r>
            <a:r>
              <a:rPr sz="1600" spc="85" dirty="0">
                <a:solidFill>
                  <a:srgbClr val="384654"/>
                </a:solidFill>
                <a:latin typeface="Calibri"/>
                <a:cs typeface="Calibri"/>
              </a:rPr>
              <a:t>transactions/customer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u="sng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Similarity</a:t>
            </a:r>
            <a:r>
              <a:rPr sz="1600" b="1" u="sng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Calculation:</a:t>
            </a:r>
            <a:endParaRPr sz="1600">
              <a:latin typeface="Calibri"/>
              <a:cs typeface="Calibri"/>
            </a:endParaRPr>
          </a:p>
          <a:p>
            <a:pPr marL="469900" marR="723265" indent="125730">
              <a:lnSpc>
                <a:spcPct val="100000"/>
              </a:lnSpc>
              <a:spcBef>
                <a:spcPts val="5"/>
              </a:spcBef>
              <a:buChar char="•"/>
              <a:tabLst>
                <a:tab pos="595630" algn="l"/>
              </a:tabLst>
            </a:pPr>
            <a:r>
              <a:rPr sz="1600" spc="110" dirty="0">
                <a:solidFill>
                  <a:srgbClr val="384654"/>
                </a:solidFill>
                <a:latin typeface="Calibri"/>
                <a:cs typeface="Calibri"/>
              </a:rPr>
              <a:t>Calculated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Euclidean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Distance</a:t>
            </a:r>
            <a:r>
              <a:rPr sz="16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5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384654"/>
                </a:solidFill>
                <a:latin typeface="Calibri"/>
                <a:cs typeface="Calibri"/>
              </a:rPr>
              <a:t>Pearson </a:t>
            </a:r>
            <a:r>
              <a:rPr sz="1600" spc="65" dirty="0">
                <a:solidFill>
                  <a:srgbClr val="384654"/>
                </a:solidFill>
                <a:latin typeface="Calibri"/>
                <a:cs typeface="Calibri"/>
              </a:rPr>
              <a:t>Correlation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b="1" u="sng" spc="1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Selected</a:t>
            </a:r>
            <a:r>
              <a:rPr sz="1600" b="1" u="sng" spc="4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1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Control</a:t>
            </a:r>
            <a:r>
              <a:rPr sz="1600" b="1" u="sng" spc="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9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Stores:</a:t>
            </a:r>
            <a:endParaRPr sz="1600">
              <a:latin typeface="Calibri"/>
              <a:cs typeface="Calibri"/>
            </a:endParaRPr>
          </a:p>
          <a:p>
            <a:pPr marL="595630" indent="-125730">
              <a:lnSpc>
                <a:spcPct val="100000"/>
              </a:lnSpc>
              <a:buChar char="•"/>
              <a:tabLst>
                <a:tab pos="595630" algn="l"/>
              </a:tabLst>
            </a:pPr>
            <a:r>
              <a:rPr sz="1600" spc="70" dirty="0">
                <a:solidFill>
                  <a:srgbClr val="384654"/>
                </a:solidFill>
                <a:latin typeface="Calibri"/>
                <a:cs typeface="Calibri"/>
              </a:rPr>
              <a:t>Identified</a:t>
            </a: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65" dirty="0">
                <a:solidFill>
                  <a:srgbClr val="384654"/>
                </a:solidFill>
                <a:latin typeface="Calibri"/>
                <a:cs typeface="Calibri"/>
              </a:rPr>
              <a:t>best-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matching</a:t>
            </a:r>
            <a:r>
              <a:rPr sz="1600" spc="1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6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125" dirty="0">
                <a:solidFill>
                  <a:srgbClr val="384654"/>
                </a:solidFill>
                <a:latin typeface="Calibri"/>
                <a:cs typeface="Calibri"/>
              </a:rPr>
              <a:t>each</a:t>
            </a:r>
            <a:r>
              <a:rPr sz="16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6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252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Visualisation</a:t>
            </a:r>
            <a:r>
              <a:rPr spc="-100" dirty="0"/>
              <a:t> </a:t>
            </a:r>
            <a:r>
              <a:rPr spc="-150" dirty="0"/>
              <a:t>1:</a:t>
            </a:r>
            <a:r>
              <a:rPr spc="-65" dirty="0"/>
              <a:t> </a:t>
            </a:r>
            <a:r>
              <a:rPr spc="160" dirty="0"/>
              <a:t>Total</a:t>
            </a:r>
            <a:r>
              <a:rPr spc="-70" dirty="0"/>
              <a:t> </a:t>
            </a:r>
            <a:r>
              <a:rPr spc="150" dirty="0"/>
              <a:t>Sales</a:t>
            </a:r>
            <a:r>
              <a:rPr spc="-85" dirty="0"/>
              <a:t> </a:t>
            </a:r>
            <a:r>
              <a:rPr spc="145" dirty="0"/>
              <a:t>Comparison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43419"/>
            <a:ext cx="5289422" cy="356095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368797" y="836752"/>
            <a:ext cx="3553460" cy="3441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7305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Trial's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impact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 sales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varied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across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stores.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Some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stores saw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increased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sales,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while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others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didn't.</a:t>
            </a:r>
            <a:endParaRPr sz="1400">
              <a:latin typeface="Calibri"/>
              <a:cs typeface="Calibri"/>
            </a:endParaRPr>
          </a:p>
          <a:p>
            <a:pPr marL="299085" marR="162560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60" dirty="0">
                <a:solidFill>
                  <a:srgbClr val="384654"/>
                </a:solidFill>
                <a:latin typeface="Calibri"/>
                <a:cs typeface="Calibri"/>
              </a:rPr>
              <a:t>88</a:t>
            </a:r>
            <a:r>
              <a:rPr sz="14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384654"/>
                </a:solidFill>
                <a:latin typeface="Calibri"/>
                <a:cs typeface="Calibri"/>
              </a:rPr>
              <a:t>237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consistently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highest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84654"/>
                </a:solidFill>
                <a:latin typeface="Calibri"/>
                <a:cs typeface="Calibri"/>
              </a:rPr>
              <a:t>77</a:t>
            </a:r>
            <a:r>
              <a:rPr sz="14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233</a:t>
            </a:r>
            <a:r>
              <a:rPr sz="14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consistently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lowest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99085" marR="762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Sales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fluctuated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throughout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 </a:t>
            </a:r>
            <a:r>
              <a:rPr sz="1400" spc="-20" dirty="0">
                <a:solidFill>
                  <a:srgbClr val="384654"/>
                </a:solidFill>
                <a:latin typeface="Calibri"/>
                <a:cs typeface="Calibri"/>
              </a:rPr>
              <a:t>year,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suggesting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seasonality</a:t>
            </a:r>
            <a:r>
              <a:rPr sz="1400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or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other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factors.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period 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seemed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have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more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noticeable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impact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count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than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sales.</a:t>
            </a:r>
            <a:endParaRPr sz="1400">
              <a:latin typeface="Calibri"/>
              <a:cs typeface="Calibri"/>
            </a:endParaRPr>
          </a:p>
          <a:p>
            <a:pPr marL="299085" marR="13843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400" b="1" spc="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65" dirty="0">
                <a:solidFill>
                  <a:srgbClr val="384654"/>
                </a:solidFill>
                <a:latin typeface="Calibri"/>
                <a:cs typeface="Calibri"/>
              </a:rPr>
              <a:t>86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saw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35" dirty="0">
                <a:solidFill>
                  <a:srgbClr val="384654"/>
                </a:solidFill>
                <a:latin typeface="Calibri"/>
                <a:cs typeface="Calibri"/>
              </a:rPr>
              <a:t>most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384654"/>
                </a:solidFill>
                <a:latin typeface="Calibri"/>
                <a:cs typeface="Calibri"/>
              </a:rPr>
              <a:t>significant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increase</a:t>
            </a:r>
            <a:r>
              <a:rPr sz="14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customers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during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trial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but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5" dirty="0">
                <a:solidFill>
                  <a:srgbClr val="384654"/>
                </a:solidFill>
                <a:latin typeface="Calibri"/>
                <a:cs typeface="Calibri"/>
              </a:rPr>
              <a:t>also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5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declining</a:t>
            </a:r>
            <a:r>
              <a:rPr sz="14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trend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before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after.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Visualization</a:t>
            </a:r>
            <a:r>
              <a:rPr spc="-100" dirty="0"/>
              <a:t> </a:t>
            </a:r>
            <a:r>
              <a:rPr spc="80" dirty="0"/>
              <a:t>2:</a:t>
            </a:r>
            <a:r>
              <a:rPr spc="380" dirty="0"/>
              <a:t> </a:t>
            </a:r>
            <a:r>
              <a:rPr spc="160" dirty="0"/>
              <a:t>Total</a:t>
            </a:r>
            <a:r>
              <a:rPr spc="-75" dirty="0"/>
              <a:t> </a:t>
            </a:r>
            <a:r>
              <a:rPr spc="140" dirty="0"/>
              <a:t>Customers</a:t>
            </a:r>
            <a:r>
              <a:rPr spc="-95" dirty="0"/>
              <a:t> </a:t>
            </a:r>
            <a:r>
              <a:rPr spc="145" dirty="0"/>
              <a:t>Comparison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0843"/>
            <a:ext cx="4936235" cy="302590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015865" y="1137920"/>
            <a:ext cx="3925570" cy="2586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94945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400" b="1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84654"/>
                </a:solidFill>
                <a:latin typeface="Calibri"/>
                <a:cs typeface="Calibri"/>
              </a:rPr>
              <a:t>(77,</a:t>
            </a: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5" dirty="0">
                <a:solidFill>
                  <a:srgbClr val="384654"/>
                </a:solidFill>
                <a:latin typeface="Calibri"/>
                <a:cs typeface="Calibri"/>
              </a:rPr>
              <a:t>86,</a:t>
            </a:r>
            <a:r>
              <a:rPr sz="14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50" dirty="0">
                <a:solidFill>
                  <a:srgbClr val="384654"/>
                </a:solidFill>
                <a:latin typeface="Calibri"/>
                <a:cs typeface="Calibri"/>
              </a:rPr>
              <a:t>88)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384654"/>
                </a:solidFill>
                <a:latin typeface="Calibri"/>
                <a:cs typeface="Calibri"/>
              </a:rPr>
              <a:t>generally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saw</a:t>
            </a:r>
            <a:r>
              <a:rPr sz="14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384654"/>
                </a:solidFill>
                <a:latin typeface="Calibri"/>
                <a:cs typeface="Calibri"/>
              </a:rPr>
              <a:t>an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increase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60" dirty="0">
                <a:solidFill>
                  <a:srgbClr val="384654"/>
                </a:solidFill>
                <a:latin typeface="Calibri"/>
                <a:cs typeface="Calibri"/>
              </a:rPr>
              <a:t>in</a:t>
            </a:r>
            <a:r>
              <a:rPr sz="1400" b="1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3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4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5" dirty="0">
                <a:solidFill>
                  <a:srgbClr val="384654"/>
                </a:solidFill>
                <a:latin typeface="Calibri"/>
                <a:cs typeface="Calibri"/>
              </a:rPr>
              <a:t>count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384654"/>
                </a:solidFill>
                <a:latin typeface="Calibri"/>
                <a:cs typeface="Calibri"/>
              </a:rPr>
              <a:t>during</a:t>
            </a:r>
            <a:r>
              <a:rPr sz="14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384654"/>
                </a:solidFill>
                <a:latin typeface="Calibri"/>
                <a:cs typeface="Calibri"/>
              </a:rPr>
              <a:t>the </a:t>
            </a:r>
            <a:r>
              <a:rPr sz="1400" b="1" spc="6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100" dirty="0">
                <a:solidFill>
                  <a:srgbClr val="384654"/>
                </a:solidFill>
                <a:latin typeface="Calibri"/>
                <a:cs typeface="Calibri"/>
              </a:rPr>
              <a:t> period</a:t>
            </a:r>
            <a:r>
              <a:rPr sz="1400" b="1" spc="1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40" dirty="0">
                <a:solidFill>
                  <a:srgbClr val="384654"/>
                </a:solidFill>
                <a:latin typeface="Calibri"/>
                <a:cs typeface="Calibri"/>
              </a:rPr>
              <a:t>(Feb-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Apr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2019),</a:t>
            </a:r>
            <a:r>
              <a:rPr sz="1400" spc="1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while</a:t>
            </a:r>
            <a:r>
              <a:rPr sz="1400" spc="1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control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remained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relatively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84654"/>
                </a:solidFill>
                <a:latin typeface="Calibri"/>
                <a:cs typeface="Calibri"/>
              </a:rPr>
              <a:t>flat.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65" dirty="0">
                <a:solidFill>
                  <a:srgbClr val="384654"/>
                </a:solidFill>
                <a:latin typeface="Calibri"/>
                <a:cs typeface="Calibri"/>
              </a:rPr>
              <a:t>86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0" dirty="0">
                <a:solidFill>
                  <a:srgbClr val="384654"/>
                </a:solidFill>
                <a:latin typeface="Calibri"/>
                <a:cs typeface="Calibri"/>
              </a:rPr>
              <a:t>showed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b="1" spc="1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35" dirty="0">
                <a:solidFill>
                  <a:srgbClr val="384654"/>
                </a:solidFill>
                <a:latin typeface="Calibri"/>
                <a:cs typeface="Calibri"/>
              </a:rPr>
              <a:t>most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384654"/>
                </a:solidFill>
                <a:latin typeface="Calibri"/>
                <a:cs typeface="Calibri"/>
              </a:rPr>
              <a:t>significant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increase</a:t>
            </a:r>
            <a:r>
              <a:rPr sz="1400" b="1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384654"/>
                </a:solidFill>
                <a:latin typeface="Calibri"/>
                <a:cs typeface="Calibri"/>
              </a:rPr>
              <a:t>during</a:t>
            </a:r>
            <a:r>
              <a:rPr sz="14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b="1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,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but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also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30" dirty="0">
                <a:solidFill>
                  <a:srgbClr val="384654"/>
                </a:solidFill>
                <a:latin typeface="Calibri"/>
                <a:cs typeface="Calibri"/>
              </a:rPr>
              <a:t>a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declining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trend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before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after.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233</a:t>
            </a:r>
            <a:r>
              <a:rPr sz="1400" b="1" spc="1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25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0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b="1" spc="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384654"/>
                </a:solidFill>
                <a:latin typeface="Calibri"/>
                <a:cs typeface="Calibri"/>
              </a:rPr>
              <a:t>highest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solidFill>
                  <a:srgbClr val="384654"/>
                </a:solidFill>
                <a:latin typeface="Calibri"/>
                <a:cs typeface="Calibri"/>
              </a:rPr>
              <a:t>overall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b="1" spc="135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400" b="1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384654"/>
                </a:solidFill>
                <a:latin typeface="Calibri"/>
                <a:cs typeface="Calibri"/>
              </a:rPr>
              <a:t>count.</a:t>
            </a:r>
            <a:endParaRPr sz="1400">
              <a:latin typeface="Calibri"/>
              <a:cs typeface="Calibri"/>
            </a:endParaRPr>
          </a:p>
          <a:p>
            <a:pPr marL="299085" marR="21844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Performance</a:t>
            </a:r>
            <a:r>
              <a:rPr sz="1400" b="1" spc="-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384654"/>
                </a:solidFill>
                <a:latin typeface="Calibri"/>
                <a:cs typeface="Calibri"/>
              </a:rPr>
              <a:t>of</a:t>
            </a:r>
            <a:r>
              <a:rPr sz="1400" b="1" spc="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55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b="1" spc="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114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400" b="1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b="1" spc="60" dirty="0">
                <a:solidFill>
                  <a:srgbClr val="384654"/>
                </a:solidFill>
                <a:latin typeface="Calibri"/>
                <a:cs typeface="Calibri"/>
              </a:rPr>
              <a:t>varied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,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suggesting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had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different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impacts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depending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store.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491229"/>
            <a:ext cx="1776095" cy="1661795"/>
            <a:chOff x="-9525" y="3491229"/>
            <a:chExt cx="1776095" cy="1661795"/>
          </a:xfrm>
        </p:grpSpPr>
        <p:sp>
          <p:nvSpPr>
            <p:cNvPr id="3" name="object 3"/>
            <p:cNvSpPr/>
            <p:nvPr/>
          </p:nvSpPr>
          <p:spPr>
            <a:xfrm>
              <a:off x="927366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5" h="513714">
                  <a:moveTo>
                    <a:pt x="418960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695" y="513473"/>
                  </a:lnTo>
                  <a:lnTo>
                    <a:pt x="838695" y="242023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419011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8" y="282943"/>
                  </a:lnTo>
                  <a:lnTo>
                    <a:pt x="838708" y="242031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050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5" h="283210">
                  <a:moveTo>
                    <a:pt x="0" y="282943"/>
                  </a:moveTo>
                  <a:lnTo>
                    <a:pt x="0" y="242031"/>
                  </a:lnTo>
                  <a:lnTo>
                    <a:pt x="419011" y="0"/>
                  </a:lnTo>
                  <a:lnTo>
                    <a:pt x="838708" y="242031"/>
                  </a:lnTo>
                  <a:lnTo>
                    <a:pt x="838708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108532" y="0"/>
                  </a:moveTo>
                  <a:lnTo>
                    <a:pt x="0" y="62692"/>
                  </a:lnTo>
                  <a:lnTo>
                    <a:pt x="0" y="905431"/>
                  </a:ln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0" y="905431"/>
                  </a:moveTo>
                  <a:lnTo>
                    <a:pt x="108532" y="968120"/>
                  </a:lnTo>
                  <a:lnTo>
                    <a:pt x="528231" y="726097"/>
                  </a:lnTo>
                  <a:lnTo>
                    <a:pt x="528231" y="242036"/>
                  </a:lnTo>
                  <a:lnTo>
                    <a:pt x="108532" y="0"/>
                  </a:lnTo>
                  <a:lnTo>
                    <a:pt x="0" y="6269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293522" y="0"/>
                  </a:moveTo>
                  <a:lnTo>
                    <a:pt x="0" y="169569"/>
                  </a:lnTo>
                  <a:lnTo>
                    <a:pt x="0" y="798543"/>
                  </a:ln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500754"/>
              <a:ext cx="713740" cy="968375"/>
            </a:xfrm>
            <a:custGeom>
              <a:avLst/>
              <a:gdLst/>
              <a:ahLst/>
              <a:cxnLst/>
              <a:rect l="l" t="t" r="r" b="b"/>
              <a:pathLst>
                <a:path w="713740" h="968375">
                  <a:moveTo>
                    <a:pt x="0" y="798543"/>
                  </a:moveTo>
                  <a:lnTo>
                    <a:pt x="293522" y="968095"/>
                  </a:lnTo>
                  <a:lnTo>
                    <a:pt x="713232" y="726059"/>
                  </a:lnTo>
                  <a:lnTo>
                    <a:pt x="713232" y="242062"/>
                  </a:lnTo>
                  <a:lnTo>
                    <a:pt x="293522" y="0"/>
                  </a:lnTo>
                  <a:lnTo>
                    <a:pt x="0" y="16956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414511" y="3491229"/>
            <a:ext cx="739140" cy="1473200"/>
            <a:chOff x="8414511" y="3491229"/>
            <a:chExt cx="739140" cy="1473200"/>
          </a:xfrm>
        </p:grpSpPr>
        <p:sp>
          <p:nvSpPr>
            <p:cNvPr id="11" name="object 11"/>
            <p:cNvSpPr/>
            <p:nvPr/>
          </p:nvSpPr>
          <p:spPr>
            <a:xfrm>
              <a:off x="8615806" y="3996308"/>
              <a:ext cx="528320" cy="968375"/>
            </a:xfrm>
            <a:custGeom>
              <a:avLst/>
              <a:gdLst/>
              <a:ahLst/>
              <a:cxnLst/>
              <a:rect l="l" t="t" r="r" b="b"/>
              <a:pathLst>
                <a:path w="528320" h="968375">
                  <a:moveTo>
                    <a:pt x="419608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608" y="968120"/>
                  </a:lnTo>
                  <a:lnTo>
                    <a:pt x="528193" y="905414"/>
                  </a:lnTo>
                  <a:lnTo>
                    <a:pt x="528193" y="62709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419608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608" y="968095"/>
                  </a:lnTo>
                  <a:lnTo>
                    <a:pt x="719963" y="794636"/>
                  </a:lnTo>
                  <a:lnTo>
                    <a:pt x="719963" y="173477"/>
                  </a:lnTo>
                  <a:lnTo>
                    <a:pt x="41960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4036" y="3500754"/>
              <a:ext cx="720090" cy="968375"/>
            </a:xfrm>
            <a:custGeom>
              <a:avLst/>
              <a:gdLst/>
              <a:ahLst/>
              <a:cxnLst/>
              <a:rect l="l" t="t" r="r" b="b"/>
              <a:pathLst>
                <a:path w="720090" h="968375">
                  <a:moveTo>
                    <a:pt x="719963" y="794636"/>
                  </a:moveTo>
                  <a:lnTo>
                    <a:pt x="419608" y="968095"/>
                  </a:lnTo>
                  <a:lnTo>
                    <a:pt x="0" y="726059"/>
                  </a:lnTo>
                  <a:lnTo>
                    <a:pt x="0" y="242062"/>
                  </a:lnTo>
                  <a:lnTo>
                    <a:pt x="419608" y="0"/>
                  </a:lnTo>
                  <a:lnTo>
                    <a:pt x="719963" y="173477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77938" y="4630026"/>
            <a:ext cx="1503045" cy="523240"/>
            <a:chOff x="7377938" y="4630026"/>
            <a:chExt cx="1503045" cy="523240"/>
          </a:xfrm>
        </p:grpSpPr>
        <p:sp>
          <p:nvSpPr>
            <p:cNvPr id="15" name="object 15"/>
            <p:cNvSpPr/>
            <p:nvPr/>
          </p:nvSpPr>
          <p:spPr>
            <a:xfrm>
              <a:off x="7377938" y="4630026"/>
              <a:ext cx="838835" cy="513715"/>
            </a:xfrm>
            <a:custGeom>
              <a:avLst/>
              <a:gdLst/>
              <a:ahLst/>
              <a:cxnLst/>
              <a:rect l="l" t="t" r="r" b="b"/>
              <a:pathLst>
                <a:path w="838834" h="513714">
                  <a:moveTo>
                    <a:pt x="419734" y="0"/>
                  </a:moveTo>
                  <a:lnTo>
                    <a:pt x="0" y="242023"/>
                  </a:lnTo>
                  <a:lnTo>
                    <a:pt x="0" y="513473"/>
                  </a:lnTo>
                  <a:lnTo>
                    <a:pt x="838707" y="513473"/>
                  </a:lnTo>
                  <a:lnTo>
                    <a:pt x="838707" y="242023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419734" y="0"/>
                  </a:moveTo>
                  <a:lnTo>
                    <a:pt x="0" y="242031"/>
                  </a:lnTo>
                  <a:lnTo>
                    <a:pt x="0" y="282943"/>
                  </a:lnTo>
                  <a:lnTo>
                    <a:pt x="838707" y="282943"/>
                  </a:lnTo>
                  <a:lnTo>
                    <a:pt x="838707" y="242031"/>
                  </a:lnTo>
                  <a:lnTo>
                    <a:pt x="41973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32242" y="4860556"/>
              <a:ext cx="838835" cy="283210"/>
            </a:xfrm>
            <a:custGeom>
              <a:avLst/>
              <a:gdLst/>
              <a:ahLst/>
              <a:cxnLst/>
              <a:rect l="l" t="t" r="r" b="b"/>
              <a:pathLst>
                <a:path w="838834" h="283210">
                  <a:moveTo>
                    <a:pt x="838707" y="282943"/>
                  </a:moveTo>
                  <a:lnTo>
                    <a:pt x="838707" y="242031"/>
                  </a:lnTo>
                  <a:lnTo>
                    <a:pt x="419734" y="0"/>
                  </a:lnTo>
                  <a:lnTo>
                    <a:pt x="0" y="242031"/>
                  </a:lnTo>
                  <a:lnTo>
                    <a:pt x="0" y="28294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9584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Visualization</a:t>
            </a:r>
            <a:r>
              <a:rPr spc="-105" dirty="0"/>
              <a:t> </a:t>
            </a:r>
            <a:r>
              <a:rPr spc="75" dirty="0"/>
              <a:t>3:</a:t>
            </a:r>
            <a:r>
              <a:rPr spc="380" dirty="0"/>
              <a:t> </a:t>
            </a:r>
            <a:r>
              <a:rPr spc="235" dirty="0"/>
              <a:t>Avg</a:t>
            </a:r>
            <a:r>
              <a:rPr spc="-90" dirty="0"/>
              <a:t> </a:t>
            </a:r>
            <a:r>
              <a:rPr spc="150" dirty="0"/>
              <a:t>Transactions</a:t>
            </a:r>
            <a:r>
              <a:rPr spc="-75" dirty="0"/>
              <a:t> </a:t>
            </a:r>
            <a:r>
              <a:rPr spc="180" dirty="0"/>
              <a:t>Per</a:t>
            </a:r>
            <a:r>
              <a:rPr spc="-85" dirty="0"/>
              <a:t> </a:t>
            </a:r>
            <a:r>
              <a:rPr spc="135" dirty="0"/>
              <a:t>Customer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5019"/>
            <a:ext cx="5163565" cy="3375533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b="1" spc="85" dirty="0">
                <a:latin typeface="Calibri"/>
                <a:cs typeface="Calibri"/>
              </a:rPr>
              <a:t>Control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65" dirty="0">
                <a:latin typeface="Calibri"/>
                <a:cs typeface="Calibri"/>
              </a:rPr>
              <a:t>237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spc="75" dirty="0"/>
              <a:t>consistently</a:t>
            </a:r>
            <a:r>
              <a:rPr spc="50" dirty="0"/>
              <a:t> </a:t>
            </a:r>
            <a:r>
              <a:rPr spc="80" dirty="0"/>
              <a:t>had</a:t>
            </a:r>
            <a:r>
              <a:rPr spc="55" dirty="0"/>
              <a:t> </a:t>
            </a:r>
            <a:r>
              <a:rPr spc="65" dirty="0"/>
              <a:t>the</a:t>
            </a:r>
            <a:r>
              <a:rPr spc="55" dirty="0"/>
              <a:t> </a:t>
            </a:r>
            <a:r>
              <a:rPr b="1" spc="80" dirty="0">
                <a:latin typeface="Calibri"/>
                <a:cs typeface="Calibri"/>
              </a:rPr>
              <a:t>highest</a:t>
            </a:r>
          </a:p>
          <a:p>
            <a:pPr marL="299085">
              <a:lnSpc>
                <a:spcPct val="100000"/>
              </a:lnSpc>
            </a:pPr>
            <a:r>
              <a:rPr spc="70" dirty="0"/>
              <a:t>average</a:t>
            </a:r>
            <a:r>
              <a:rPr spc="80" dirty="0"/>
              <a:t> </a:t>
            </a:r>
            <a:r>
              <a:rPr spc="70" dirty="0"/>
              <a:t>transactions </a:t>
            </a:r>
            <a:r>
              <a:rPr spc="75" dirty="0"/>
              <a:t>per</a:t>
            </a:r>
            <a:r>
              <a:rPr spc="50" dirty="0"/>
              <a:t> </a:t>
            </a:r>
            <a:r>
              <a:rPr spc="55" dirty="0"/>
              <a:t>customer.</a:t>
            </a:r>
          </a:p>
          <a:p>
            <a:pPr marL="299085" marR="31115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b="1" spc="55" dirty="0">
                <a:latin typeface="Calibri"/>
                <a:cs typeface="Calibri"/>
              </a:rPr>
              <a:t>Trial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77</a:t>
            </a:r>
            <a:r>
              <a:rPr b="1" spc="45" dirty="0">
                <a:latin typeface="Calibri"/>
                <a:cs typeface="Calibri"/>
              </a:rPr>
              <a:t> </a:t>
            </a:r>
            <a:r>
              <a:rPr spc="75" dirty="0"/>
              <a:t>consistently</a:t>
            </a:r>
            <a:r>
              <a:rPr spc="50" dirty="0"/>
              <a:t> </a:t>
            </a:r>
            <a:r>
              <a:rPr spc="80" dirty="0"/>
              <a:t>had</a:t>
            </a:r>
            <a:r>
              <a:rPr spc="65" dirty="0"/>
              <a:t> the</a:t>
            </a:r>
            <a:r>
              <a:rPr spc="40" dirty="0"/>
              <a:t> </a:t>
            </a:r>
            <a:r>
              <a:rPr b="1" spc="80" dirty="0">
                <a:latin typeface="Calibri"/>
                <a:cs typeface="Calibri"/>
              </a:rPr>
              <a:t>lowest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spc="60" dirty="0"/>
              <a:t>average </a:t>
            </a:r>
            <a:r>
              <a:rPr spc="70" dirty="0"/>
              <a:t>transactions</a:t>
            </a:r>
            <a:r>
              <a:rPr spc="75" dirty="0"/>
              <a:t> per</a:t>
            </a:r>
            <a:r>
              <a:rPr spc="65" dirty="0"/>
              <a:t> </a:t>
            </a:r>
            <a:r>
              <a:rPr spc="55" dirty="0"/>
              <a:t>customer.</a:t>
            </a:r>
          </a:p>
          <a:p>
            <a:pPr marL="299085" marR="29464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b="1" spc="55" dirty="0">
                <a:latin typeface="Calibri"/>
                <a:cs typeface="Calibri"/>
              </a:rPr>
              <a:t>Trial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140" dirty="0">
                <a:latin typeface="Calibri"/>
                <a:cs typeface="Calibri"/>
              </a:rPr>
              <a:t>86</a:t>
            </a:r>
            <a:r>
              <a:rPr b="1" spc="35" dirty="0">
                <a:latin typeface="Calibri"/>
                <a:cs typeface="Calibri"/>
              </a:rPr>
              <a:t> </a:t>
            </a:r>
            <a:r>
              <a:rPr spc="75" dirty="0"/>
              <a:t>showed</a:t>
            </a:r>
            <a:r>
              <a:rPr spc="80" dirty="0"/>
              <a:t> </a:t>
            </a:r>
            <a:r>
              <a:rPr b="1" spc="95" dirty="0">
                <a:latin typeface="Calibri"/>
                <a:cs typeface="Calibri"/>
              </a:rPr>
              <a:t>a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75" dirty="0">
                <a:latin typeface="Calibri"/>
                <a:cs typeface="Calibri"/>
              </a:rPr>
              <a:t>slight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spc="105" dirty="0">
                <a:latin typeface="Calibri"/>
                <a:cs typeface="Calibri"/>
              </a:rPr>
              <a:t>increase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spc="60" dirty="0"/>
              <a:t>average </a:t>
            </a:r>
            <a:r>
              <a:rPr spc="70" dirty="0"/>
              <a:t>transactions</a:t>
            </a:r>
            <a:r>
              <a:rPr spc="80" dirty="0"/>
              <a:t> </a:t>
            </a:r>
            <a:r>
              <a:rPr spc="60" dirty="0"/>
              <a:t>during</a:t>
            </a:r>
            <a:r>
              <a:rPr spc="80" dirty="0"/>
              <a:t> </a:t>
            </a:r>
            <a:r>
              <a:rPr spc="70" dirty="0"/>
              <a:t>the </a:t>
            </a:r>
            <a:r>
              <a:rPr dirty="0"/>
              <a:t>trial</a:t>
            </a:r>
            <a:r>
              <a:rPr spc="75" dirty="0"/>
              <a:t> </a:t>
            </a:r>
            <a:r>
              <a:rPr spc="50" dirty="0"/>
              <a:t>period,</a:t>
            </a:r>
            <a:r>
              <a:rPr spc="80" dirty="0"/>
              <a:t> but</a:t>
            </a:r>
            <a:r>
              <a:rPr spc="60" dirty="0"/>
              <a:t> </a:t>
            </a:r>
            <a:r>
              <a:rPr spc="45" dirty="0"/>
              <a:t>the </a:t>
            </a:r>
            <a:r>
              <a:rPr spc="75" dirty="0"/>
              <a:t>effect</a:t>
            </a:r>
            <a:r>
              <a:rPr spc="55" dirty="0"/>
              <a:t> </a:t>
            </a:r>
            <a:r>
              <a:rPr spc="65" dirty="0"/>
              <a:t>is</a:t>
            </a:r>
            <a:r>
              <a:rPr spc="45" dirty="0"/>
              <a:t> </a:t>
            </a:r>
            <a:r>
              <a:rPr spc="60" dirty="0"/>
              <a:t>not</a:t>
            </a:r>
            <a:r>
              <a:rPr spc="50" dirty="0"/>
              <a:t> dramatic.</a:t>
            </a:r>
          </a:p>
          <a:p>
            <a:pPr marL="299085" marR="7810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pc="70" dirty="0"/>
              <a:t>The</a:t>
            </a:r>
            <a:r>
              <a:rPr spc="75" dirty="0"/>
              <a:t> </a:t>
            </a:r>
            <a:r>
              <a:rPr dirty="0"/>
              <a:t>trial</a:t>
            </a:r>
            <a:r>
              <a:rPr spc="60" dirty="0"/>
              <a:t> </a:t>
            </a:r>
            <a:r>
              <a:rPr spc="70" dirty="0"/>
              <a:t>period</a:t>
            </a:r>
            <a:r>
              <a:rPr spc="65" dirty="0"/>
              <a:t> </a:t>
            </a:r>
            <a:r>
              <a:rPr spc="95" dirty="0"/>
              <a:t>(shaded</a:t>
            </a:r>
            <a:r>
              <a:rPr spc="65" dirty="0"/>
              <a:t> </a:t>
            </a:r>
            <a:r>
              <a:rPr spc="75" dirty="0"/>
              <a:t>gray) </a:t>
            </a:r>
            <a:r>
              <a:rPr spc="80" dirty="0"/>
              <a:t>had</a:t>
            </a:r>
            <a:r>
              <a:rPr spc="65" dirty="0"/>
              <a:t> a</a:t>
            </a:r>
            <a:r>
              <a:rPr spc="60" dirty="0"/>
              <a:t> </a:t>
            </a:r>
            <a:r>
              <a:rPr spc="55" dirty="0"/>
              <a:t>limited and </a:t>
            </a:r>
            <a:r>
              <a:rPr spc="60" dirty="0"/>
              <a:t>varied </a:t>
            </a:r>
            <a:r>
              <a:rPr spc="85" dirty="0"/>
              <a:t>impact</a:t>
            </a:r>
            <a:r>
              <a:rPr spc="60" dirty="0"/>
              <a:t> on </a:t>
            </a:r>
            <a:r>
              <a:rPr spc="70" dirty="0"/>
              <a:t>average</a:t>
            </a:r>
            <a:r>
              <a:rPr spc="85" dirty="0"/>
              <a:t> </a:t>
            </a:r>
            <a:r>
              <a:rPr spc="70" dirty="0"/>
              <a:t>transactions </a:t>
            </a:r>
            <a:r>
              <a:rPr spc="80" dirty="0"/>
              <a:t>across </a:t>
            </a:r>
            <a:r>
              <a:rPr spc="55" dirty="0"/>
              <a:t>different</a:t>
            </a:r>
            <a:r>
              <a:rPr spc="60" dirty="0"/>
              <a:t> </a:t>
            </a:r>
            <a:r>
              <a:rPr spc="45" dirty="0"/>
              <a:t>stores.</a:t>
            </a: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pc="60" dirty="0"/>
              <a:t>There</a:t>
            </a:r>
            <a:r>
              <a:rPr spc="80" dirty="0"/>
              <a:t> </a:t>
            </a:r>
            <a:r>
              <a:rPr spc="50" dirty="0"/>
              <a:t>are</a:t>
            </a:r>
            <a:r>
              <a:rPr spc="75" dirty="0"/>
              <a:t> </a:t>
            </a:r>
            <a:r>
              <a:rPr spc="60" dirty="0"/>
              <a:t>fluctuations</a:t>
            </a:r>
            <a:r>
              <a:rPr spc="70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spc="70" dirty="0"/>
              <a:t>average</a:t>
            </a:r>
            <a:r>
              <a:rPr spc="85" dirty="0"/>
              <a:t> </a:t>
            </a:r>
            <a:r>
              <a:rPr spc="60" dirty="0"/>
              <a:t>transactions </a:t>
            </a:r>
            <a:r>
              <a:rPr spc="90" dirty="0"/>
              <a:t>across</a:t>
            </a:r>
            <a:r>
              <a:rPr spc="100" dirty="0"/>
              <a:t> </a:t>
            </a:r>
            <a:r>
              <a:rPr dirty="0"/>
              <a:t>all</a:t>
            </a:r>
            <a:r>
              <a:rPr spc="85" dirty="0"/>
              <a:t> </a:t>
            </a:r>
            <a:r>
              <a:rPr spc="80" dirty="0"/>
              <a:t>stores</a:t>
            </a:r>
            <a:r>
              <a:rPr spc="100" dirty="0"/>
              <a:t> </a:t>
            </a:r>
            <a:r>
              <a:rPr spc="55" dirty="0"/>
              <a:t>throughout</a:t>
            </a:r>
            <a:r>
              <a:rPr spc="125" dirty="0"/>
              <a:t> </a:t>
            </a:r>
            <a:r>
              <a:rPr spc="70" dirty="0"/>
              <a:t>the</a:t>
            </a:r>
            <a:r>
              <a:rPr spc="90" dirty="0"/>
              <a:t> </a:t>
            </a:r>
            <a:r>
              <a:rPr dirty="0"/>
              <a:t>year,</a:t>
            </a:r>
            <a:r>
              <a:rPr spc="90" dirty="0"/>
              <a:t> </a:t>
            </a:r>
            <a:r>
              <a:rPr spc="70" dirty="0"/>
              <a:t>suggesting </a:t>
            </a:r>
            <a:r>
              <a:rPr spc="55" dirty="0"/>
              <a:t>potential</a:t>
            </a:r>
            <a:r>
              <a:rPr spc="80" dirty="0"/>
              <a:t> </a:t>
            </a:r>
            <a:r>
              <a:rPr spc="65" dirty="0"/>
              <a:t>seasonality</a:t>
            </a:r>
            <a:r>
              <a:rPr spc="80" dirty="0"/>
              <a:t> </a:t>
            </a:r>
            <a:r>
              <a:rPr dirty="0"/>
              <a:t>or</a:t>
            </a:r>
            <a:r>
              <a:rPr spc="95" dirty="0"/>
              <a:t> </a:t>
            </a:r>
            <a:r>
              <a:rPr spc="50" dirty="0"/>
              <a:t>external</a:t>
            </a:r>
            <a:r>
              <a:rPr spc="100" dirty="0"/>
              <a:t> </a:t>
            </a:r>
            <a:r>
              <a:rPr spc="50" dirty="0"/>
              <a:t>factors.</a:t>
            </a:r>
          </a:p>
          <a:p>
            <a:pPr marL="299085" marR="10795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spc="70" dirty="0"/>
              <a:t>The</a:t>
            </a:r>
            <a:r>
              <a:rPr spc="85" dirty="0"/>
              <a:t> </a:t>
            </a:r>
            <a:r>
              <a:rPr spc="70" dirty="0"/>
              <a:t>average</a:t>
            </a:r>
            <a:r>
              <a:rPr spc="100" dirty="0"/>
              <a:t> </a:t>
            </a:r>
            <a:r>
              <a:rPr spc="70" dirty="0"/>
              <a:t>transactions</a:t>
            </a:r>
            <a:r>
              <a:rPr spc="90" dirty="0"/>
              <a:t> </a:t>
            </a:r>
            <a:r>
              <a:rPr spc="75" dirty="0"/>
              <a:t>per </a:t>
            </a:r>
            <a:r>
              <a:rPr spc="80" dirty="0"/>
              <a:t>customer </a:t>
            </a:r>
            <a:r>
              <a:rPr dirty="0"/>
              <a:t>for</a:t>
            </a:r>
            <a:r>
              <a:rPr spc="85" dirty="0"/>
              <a:t> </a:t>
            </a:r>
            <a:r>
              <a:rPr spc="70" dirty="0"/>
              <a:t>most </a:t>
            </a:r>
            <a:r>
              <a:rPr spc="75" dirty="0"/>
              <a:t>stores</a:t>
            </a:r>
            <a:r>
              <a:rPr spc="70" dirty="0"/>
              <a:t> </a:t>
            </a:r>
            <a:r>
              <a:rPr spc="65" dirty="0"/>
              <a:t>remained </a:t>
            </a:r>
            <a:r>
              <a:rPr spc="50" dirty="0"/>
              <a:t>relatively</a:t>
            </a:r>
            <a:r>
              <a:rPr spc="60" dirty="0"/>
              <a:t> </a:t>
            </a:r>
            <a:r>
              <a:rPr spc="75" dirty="0"/>
              <a:t>stable</a:t>
            </a:r>
            <a:r>
              <a:rPr spc="65" dirty="0"/>
              <a:t> </a:t>
            </a:r>
            <a:r>
              <a:rPr spc="55" dirty="0"/>
              <a:t>throughout</a:t>
            </a:r>
            <a:r>
              <a:rPr spc="75" dirty="0"/>
              <a:t> </a:t>
            </a:r>
            <a:r>
              <a:rPr spc="40" dirty="0"/>
              <a:t>the </a:t>
            </a:r>
            <a:r>
              <a:rPr dirty="0"/>
              <a:t>year,</a:t>
            </a:r>
            <a:r>
              <a:rPr spc="13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spc="60" dirty="0"/>
              <a:t>no</a:t>
            </a:r>
            <a:r>
              <a:rPr spc="120" dirty="0"/>
              <a:t> </a:t>
            </a:r>
            <a:r>
              <a:rPr spc="60" dirty="0"/>
              <a:t>significant</a:t>
            </a:r>
            <a:r>
              <a:rPr spc="150" dirty="0"/>
              <a:t> </a:t>
            </a:r>
            <a:r>
              <a:rPr spc="65" dirty="0"/>
              <a:t>upward</a:t>
            </a:r>
            <a:r>
              <a:rPr spc="130" dirty="0"/>
              <a:t> </a:t>
            </a:r>
            <a:r>
              <a:rPr dirty="0"/>
              <a:t>or</a:t>
            </a:r>
            <a:r>
              <a:rPr spc="135" dirty="0"/>
              <a:t> </a:t>
            </a:r>
            <a:r>
              <a:rPr spc="50" dirty="0"/>
              <a:t>downward </a:t>
            </a:r>
            <a:r>
              <a:rPr spc="45" dirty="0"/>
              <a:t>trends.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98214" y="432053"/>
            <a:ext cx="20599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0" dirty="0"/>
              <a:t>Conclusion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084958" y="214502"/>
            <a:ext cx="1287145" cy="1397000"/>
            <a:chOff x="2084958" y="214502"/>
            <a:chExt cx="1287145" cy="1397000"/>
          </a:xfrm>
        </p:grpSpPr>
        <p:sp>
          <p:nvSpPr>
            <p:cNvPr id="4" name="object 4"/>
            <p:cNvSpPr/>
            <p:nvPr/>
          </p:nvSpPr>
          <p:spPr>
            <a:xfrm>
              <a:off x="2084958" y="64312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8" y="726059"/>
                  </a:lnTo>
                  <a:lnTo>
                    <a:pt x="838708" y="241935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23870" y="22402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1935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23870" y="22402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8973" y="968121"/>
                  </a:lnTo>
                  <a:lnTo>
                    <a:pt x="838707" y="726059"/>
                  </a:lnTo>
                  <a:lnTo>
                    <a:pt x="838707" y="241935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-9525"/>
            <a:ext cx="3695065" cy="5162550"/>
            <a:chOff x="0" y="-9525"/>
            <a:chExt cx="3695065" cy="5162550"/>
          </a:xfrm>
        </p:grpSpPr>
        <p:sp>
          <p:nvSpPr>
            <p:cNvPr id="8" name="object 8"/>
            <p:cNvSpPr/>
            <p:nvPr/>
          </p:nvSpPr>
          <p:spPr>
            <a:xfrm>
              <a:off x="1401444" y="270179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1934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1732" y="490601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60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8960" y="968121"/>
                  </a:lnTo>
                  <a:lnTo>
                    <a:pt x="838695" y="726059"/>
                  </a:lnTo>
                  <a:lnTo>
                    <a:pt x="838695" y="241935"/>
                  </a:lnTo>
                  <a:lnTo>
                    <a:pt x="418960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982" y="0"/>
              <a:ext cx="838835" cy="862330"/>
            </a:xfrm>
            <a:custGeom>
              <a:avLst/>
              <a:gdLst/>
              <a:ahLst/>
              <a:cxnLst/>
              <a:rect l="l" t="t" r="r" b="b"/>
              <a:pathLst>
                <a:path w="838835" h="862330">
                  <a:moveTo>
                    <a:pt x="602898" y="0"/>
                  </a:moveTo>
                  <a:lnTo>
                    <a:pt x="235446" y="0"/>
                  </a:lnTo>
                  <a:lnTo>
                    <a:pt x="0" y="136016"/>
                  </a:lnTo>
                  <a:lnTo>
                    <a:pt x="0" y="620013"/>
                  </a:lnTo>
                  <a:lnTo>
                    <a:pt x="419011" y="862076"/>
                  </a:lnTo>
                  <a:lnTo>
                    <a:pt x="838758" y="620013"/>
                  </a:lnTo>
                  <a:lnTo>
                    <a:pt x="838758" y="136016"/>
                  </a:lnTo>
                  <a:lnTo>
                    <a:pt x="60289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982" y="0"/>
              <a:ext cx="838835" cy="862330"/>
            </a:xfrm>
            <a:custGeom>
              <a:avLst/>
              <a:gdLst/>
              <a:ahLst/>
              <a:cxnLst/>
              <a:rect l="l" t="t" r="r" b="b"/>
              <a:pathLst>
                <a:path w="838835" h="862330">
                  <a:moveTo>
                    <a:pt x="235446" y="0"/>
                  </a:moveTo>
                  <a:lnTo>
                    <a:pt x="0" y="136016"/>
                  </a:lnTo>
                  <a:lnTo>
                    <a:pt x="0" y="620013"/>
                  </a:lnTo>
                  <a:lnTo>
                    <a:pt x="419011" y="862076"/>
                  </a:lnTo>
                  <a:lnTo>
                    <a:pt x="838758" y="620013"/>
                  </a:lnTo>
                  <a:lnTo>
                    <a:pt x="838758" y="136016"/>
                  </a:lnTo>
                  <a:lnTo>
                    <a:pt x="602898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490" y="1596136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11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9011" y="968120"/>
                  </a:lnTo>
                  <a:lnTo>
                    <a:pt x="838669" y="726058"/>
                  </a:lnTo>
                  <a:lnTo>
                    <a:pt x="838669" y="242062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1444" y="199529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1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2061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01444" y="199529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1"/>
                  </a:lnTo>
                  <a:lnTo>
                    <a:pt x="0" y="726058"/>
                  </a:lnTo>
                  <a:lnTo>
                    <a:pt x="418973" y="968120"/>
                  </a:lnTo>
                  <a:lnTo>
                    <a:pt x="838707" y="726058"/>
                  </a:lnTo>
                  <a:lnTo>
                    <a:pt x="838707" y="242061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08123" y="171310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838707" y="726186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08123" y="1713102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2062"/>
                  </a:lnTo>
                  <a:lnTo>
                    <a:pt x="0" y="726186"/>
                  </a:lnTo>
                  <a:lnTo>
                    <a:pt x="418973" y="968121"/>
                  </a:lnTo>
                  <a:lnTo>
                    <a:pt x="838707" y="726186"/>
                  </a:lnTo>
                  <a:lnTo>
                    <a:pt x="838707" y="242062"/>
                  </a:lnTo>
                  <a:lnTo>
                    <a:pt x="418973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2478023"/>
              <a:ext cx="767080" cy="968375"/>
            </a:xfrm>
            <a:custGeom>
              <a:avLst/>
              <a:gdLst/>
              <a:ahLst/>
              <a:cxnLst/>
              <a:rect l="l" t="t" r="r" b="b"/>
              <a:pathLst>
                <a:path w="767080" h="968375">
                  <a:moveTo>
                    <a:pt x="346862" y="0"/>
                  </a:moveTo>
                  <a:lnTo>
                    <a:pt x="0" y="200381"/>
                  </a:lnTo>
                  <a:lnTo>
                    <a:pt x="0" y="767739"/>
                  </a:lnTo>
                  <a:lnTo>
                    <a:pt x="346862" y="968120"/>
                  </a:lnTo>
                  <a:lnTo>
                    <a:pt x="766559" y="726058"/>
                  </a:lnTo>
                  <a:lnTo>
                    <a:pt x="766559" y="242062"/>
                  </a:lnTo>
                  <a:lnTo>
                    <a:pt x="346862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6630" y="3741546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23" y="0"/>
                  </a:moveTo>
                  <a:lnTo>
                    <a:pt x="0" y="241973"/>
                  </a:lnTo>
                  <a:lnTo>
                    <a:pt x="0" y="726033"/>
                  </a:lnTo>
                  <a:lnTo>
                    <a:pt x="419023" y="968057"/>
                  </a:lnTo>
                  <a:lnTo>
                    <a:pt x="838758" y="726033"/>
                  </a:lnTo>
                  <a:lnTo>
                    <a:pt x="838758" y="241973"/>
                  </a:lnTo>
                  <a:lnTo>
                    <a:pt x="419023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027" y="416052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11" y="0"/>
                  </a:moveTo>
                  <a:lnTo>
                    <a:pt x="0" y="242023"/>
                  </a:lnTo>
                  <a:lnTo>
                    <a:pt x="0" y="726084"/>
                  </a:lnTo>
                  <a:lnTo>
                    <a:pt x="419011" y="968115"/>
                  </a:lnTo>
                  <a:lnTo>
                    <a:pt x="838720" y="726084"/>
                  </a:lnTo>
                  <a:lnTo>
                    <a:pt x="838720" y="242023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027" y="4160520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11" y="968115"/>
                  </a:moveTo>
                  <a:lnTo>
                    <a:pt x="0" y="726084"/>
                  </a:lnTo>
                  <a:lnTo>
                    <a:pt x="0" y="242023"/>
                  </a:lnTo>
                  <a:lnTo>
                    <a:pt x="419011" y="0"/>
                  </a:lnTo>
                  <a:lnTo>
                    <a:pt x="838720" y="242023"/>
                  </a:lnTo>
                  <a:lnTo>
                    <a:pt x="838720" y="726084"/>
                  </a:lnTo>
                  <a:lnTo>
                    <a:pt x="419011" y="968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55545" y="2783204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100" y="0"/>
                  </a:moveTo>
                  <a:lnTo>
                    <a:pt x="0" y="242062"/>
                  </a:lnTo>
                  <a:lnTo>
                    <a:pt x="0" y="726058"/>
                  </a:lnTo>
                  <a:lnTo>
                    <a:pt x="419100" y="968120"/>
                  </a:lnTo>
                  <a:lnTo>
                    <a:pt x="838834" y="726058"/>
                  </a:lnTo>
                  <a:lnTo>
                    <a:pt x="838834" y="242062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46832" y="326631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47"/>
                  </a:lnTo>
                  <a:lnTo>
                    <a:pt x="418972" y="968171"/>
                  </a:lnTo>
                  <a:lnTo>
                    <a:pt x="838707" y="726147"/>
                  </a:lnTo>
                  <a:lnTo>
                    <a:pt x="838707" y="242062"/>
                  </a:lnTo>
                  <a:lnTo>
                    <a:pt x="418972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46832" y="3266313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2" y="0"/>
                  </a:moveTo>
                  <a:lnTo>
                    <a:pt x="0" y="242062"/>
                  </a:lnTo>
                  <a:lnTo>
                    <a:pt x="0" y="726147"/>
                  </a:lnTo>
                  <a:lnTo>
                    <a:pt x="418972" y="968171"/>
                  </a:lnTo>
                  <a:lnTo>
                    <a:pt x="838707" y="726147"/>
                  </a:lnTo>
                  <a:lnTo>
                    <a:pt x="838707" y="242062"/>
                  </a:lnTo>
                  <a:lnTo>
                    <a:pt x="418972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00427" y="3853307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8973" y="0"/>
                  </a:moveTo>
                  <a:lnTo>
                    <a:pt x="0" y="241973"/>
                  </a:lnTo>
                  <a:lnTo>
                    <a:pt x="0" y="726033"/>
                  </a:lnTo>
                  <a:lnTo>
                    <a:pt x="418973" y="968070"/>
                  </a:lnTo>
                  <a:lnTo>
                    <a:pt x="838708" y="726033"/>
                  </a:lnTo>
                  <a:lnTo>
                    <a:pt x="838708" y="241973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17698" y="4380306"/>
              <a:ext cx="838835" cy="763270"/>
            </a:xfrm>
            <a:custGeom>
              <a:avLst/>
              <a:gdLst/>
              <a:ahLst/>
              <a:cxnLst/>
              <a:rect l="l" t="t" r="r" b="b"/>
              <a:pathLst>
                <a:path w="838835" h="763270">
                  <a:moveTo>
                    <a:pt x="418973" y="0"/>
                  </a:moveTo>
                  <a:lnTo>
                    <a:pt x="0" y="242036"/>
                  </a:lnTo>
                  <a:lnTo>
                    <a:pt x="0" y="726094"/>
                  </a:lnTo>
                  <a:lnTo>
                    <a:pt x="64222" y="763193"/>
                  </a:lnTo>
                  <a:lnTo>
                    <a:pt x="774368" y="763193"/>
                  </a:lnTo>
                  <a:lnTo>
                    <a:pt x="838708" y="726094"/>
                  </a:lnTo>
                  <a:lnTo>
                    <a:pt x="838708" y="242036"/>
                  </a:lnTo>
                  <a:lnTo>
                    <a:pt x="418973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17698" y="4380306"/>
              <a:ext cx="838835" cy="763270"/>
            </a:xfrm>
            <a:custGeom>
              <a:avLst/>
              <a:gdLst/>
              <a:ahLst/>
              <a:cxnLst/>
              <a:rect l="l" t="t" r="r" b="b"/>
              <a:pathLst>
                <a:path w="838835" h="763270">
                  <a:moveTo>
                    <a:pt x="64222" y="763193"/>
                  </a:moveTo>
                  <a:lnTo>
                    <a:pt x="0" y="726094"/>
                  </a:lnTo>
                  <a:lnTo>
                    <a:pt x="0" y="242036"/>
                  </a:lnTo>
                  <a:lnTo>
                    <a:pt x="418973" y="0"/>
                  </a:lnTo>
                  <a:lnTo>
                    <a:pt x="838708" y="242036"/>
                  </a:lnTo>
                  <a:lnTo>
                    <a:pt x="838708" y="726094"/>
                  </a:lnTo>
                  <a:lnTo>
                    <a:pt x="774368" y="7631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7205" y="292544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11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011" y="968133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9011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7205" y="2925445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11" y="0"/>
                  </a:moveTo>
                  <a:lnTo>
                    <a:pt x="0" y="242062"/>
                  </a:lnTo>
                  <a:lnTo>
                    <a:pt x="0" y="726059"/>
                  </a:lnTo>
                  <a:lnTo>
                    <a:pt x="419011" y="968133"/>
                  </a:lnTo>
                  <a:lnTo>
                    <a:pt x="838708" y="726059"/>
                  </a:lnTo>
                  <a:lnTo>
                    <a:pt x="838708" y="242062"/>
                  </a:lnTo>
                  <a:lnTo>
                    <a:pt x="419011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1386586"/>
              <a:ext cx="527050" cy="968375"/>
            </a:xfrm>
            <a:custGeom>
              <a:avLst/>
              <a:gdLst/>
              <a:ahLst/>
              <a:cxnLst/>
              <a:rect l="l" t="t" r="r" b="b"/>
              <a:pathLst>
                <a:path w="527050" h="968375">
                  <a:moveTo>
                    <a:pt x="107033" y="0"/>
                  </a:moveTo>
                  <a:lnTo>
                    <a:pt x="0" y="61833"/>
                  </a:lnTo>
                  <a:lnTo>
                    <a:pt x="0" y="906287"/>
                  </a:lnTo>
                  <a:lnTo>
                    <a:pt x="107033" y="968120"/>
                  </a:lnTo>
                  <a:lnTo>
                    <a:pt x="526732" y="726058"/>
                  </a:lnTo>
                  <a:lnTo>
                    <a:pt x="526732" y="242062"/>
                  </a:lnTo>
                  <a:lnTo>
                    <a:pt x="107033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928" y="80314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08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008" y="968121"/>
                  </a:lnTo>
                  <a:lnTo>
                    <a:pt x="838705" y="726059"/>
                  </a:lnTo>
                  <a:lnTo>
                    <a:pt x="838705" y="241935"/>
                  </a:lnTo>
                  <a:lnTo>
                    <a:pt x="419008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928" y="803148"/>
              <a:ext cx="838835" cy="968375"/>
            </a:xfrm>
            <a:custGeom>
              <a:avLst/>
              <a:gdLst/>
              <a:ahLst/>
              <a:cxnLst/>
              <a:rect l="l" t="t" r="r" b="b"/>
              <a:pathLst>
                <a:path w="838835" h="968375">
                  <a:moveTo>
                    <a:pt x="419008" y="0"/>
                  </a:moveTo>
                  <a:lnTo>
                    <a:pt x="0" y="241935"/>
                  </a:lnTo>
                  <a:lnTo>
                    <a:pt x="0" y="726059"/>
                  </a:lnTo>
                  <a:lnTo>
                    <a:pt x="419008" y="968121"/>
                  </a:lnTo>
                  <a:lnTo>
                    <a:pt x="838705" y="726059"/>
                  </a:lnTo>
                  <a:lnTo>
                    <a:pt x="838705" y="241935"/>
                  </a:lnTo>
                  <a:lnTo>
                    <a:pt x="419008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918711" y="372872"/>
            <a:ext cx="374015" cy="0"/>
          </a:xfrm>
          <a:custGeom>
            <a:avLst/>
            <a:gdLst/>
            <a:ahLst/>
            <a:cxnLst/>
            <a:rect l="l" t="t" r="r" b="b"/>
            <a:pathLst>
              <a:path w="374014">
                <a:moveTo>
                  <a:pt x="0" y="0"/>
                </a:moveTo>
                <a:lnTo>
                  <a:pt x="373507" y="0"/>
                </a:lnTo>
              </a:path>
            </a:pathLst>
          </a:custGeom>
          <a:ln w="19050">
            <a:solidFill>
              <a:srgbClr val="3846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999738" y="992886"/>
            <a:ext cx="4535170" cy="386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u="heavy" spc="1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Key</a:t>
            </a:r>
            <a:r>
              <a:rPr sz="1400" b="1" u="heavy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Findings</a:t>
            </a:r>
            <a:r>
              <a:rPr sz="1400" b="1" u="heavy" spc="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9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from</a:t>
            </a:r>
            <a:r>
              <a:rPr sz="1400" b="1" u="heavy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Task</a:t>
            </a:r>
            <a:r>
              <a:rPr sz="1400" b="1" u="heavy" spc="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-5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756285" marR="758190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Identified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top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brands,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customer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segments,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spending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behaviors.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Older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Singles/Couples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Retirees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dominate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chip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purchases.</a:t>
            </a:r>
            <a:endParaRPr sz="1400">
              <a:latin typeface="Calibri"/>
              <a:cs typeface="Calibri"/>
            </a:endParaRPr>
          </a:p>
          <a:p>
            <a:pPr marL="756285" marR="104139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Mainstream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budget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segments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form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majority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of</a:t>
            </a:r>
            <a:r>
              <a:rPr sz="1400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market.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u="heavy" spc="14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Key</a:t>
            </a:r>
            <a:r>
              <a:rPr sz="1400" b="1" u="heavy" spc="2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10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Findings</a:t>
            </a:r>
            <a:r>
              <a:rPr sz="1400" b="1" u="heavy" spc="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9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from</a:t>
            </a:r>
            <a:r>
              <a:rPr sz="1400" b="1" u="heavy" spc="1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Task</a:t>
            </a:r>
            <a:r>
              <a:rPr sz="1400" b="1" u="heavy" spc="2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Successfully</a:t>
            </a:r>
            <a:r>
              <a:rPr sz="1400" spc="3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identified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using</a:t>
            </a:r>
            <a:endParaRPr sz="1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similarity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measures.</a:t>
            </a:r>
            <a:endParaRPr sz="1400">
              <a:latin typeface="Calibri"/>
              <a:cs typeface="Calibri"/>
            </a:endParaRPr>
          </a:p>
          <a:p>
            <a:pPr marL="756285" marR="572135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Sales,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customer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384654"/>
                </a:solidFill>
                <a:latin typeface="Calibri"/>
                <a:cs typeface="Calibri"/>
              </a:rPr>
              <a:t>count,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and</a:t>
            </a:r>
            <a:r>
              <a:rPr sz="1400" spc="6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transaction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patterns</a:t>
            </a:r>
            <a:r>
              <a:rPr sz="1400" spc="10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closely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384654"/>
                </a:solidFill>
                <a:latin typeface="Calibri"/>
                <a:cs typeface="Calibri"/>
              </a:rPr>
              <a:t>match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stores.</a:t>
            </a:r>
            <a:endParaRPr sz="1400">
              <a:latin typeface="Calibri"/>
              <a:cs typeface="Calibri"/>
            </a:endParaRPr>
          </a:p>
          <a:p>
            <a:pPr marL="756285" marR="149860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Control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384654"/>
                </a:solidFill>
                <a:latin typeface="Calibri"/>
                <a:cs typeface="Calibri"/>
              </a:rPr>
              <a:t>stores</a:t>
            </a:r>
            <a:r>
              <a:rPr sz="1400" spc="114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provide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</a:t>
            </a:r>
            <a:r>
              <a:rPr sz="14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384654"/>
                </a:solidFill>
                <a:latin typeface="Calibri"/>
                <a:cs typeface="Calibri"/>
              </a:rPr>
              <a:t>reliable</a:t>
            </a:r>
            <a:r>
              <a:rPr sz="1400" spc="1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benchmark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for</a:t>
            </a:r>
            <a:r>
              <a:rPr sz="1400" spc="12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7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4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performance</a:t>
            </a:r>
            <a:r>
              <a:rPr sz="14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4654"/>
                </a:solidFill>
                <a:latin typeface="Calibri"/>
                <a:cs typeface="Calibri"/>
              </a:rPr>
              <a:t>evaluation.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u="heavy" spc="11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Next</a:t>
            </a:r>
            <a:r>
              <a:rPr sz="1400" b="1" u="heavy" spc="30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heavy" spc="135" dirty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</a:rPr>
              <a:t>Steps</a:t>
            </a:r>
            <a:endParaRPr sz="1400">
              <a:latin typeface="Calibri"/>
              <a:cs typeface="Calibri"/>
            </a:endParaRPr>
          </a:p>
          <a:p>
            <a:pPr marL="756285" marR="266065" indent="-2870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Further</a:t>
            </a:r>
            <a:r>
              <a:rPr sz="1400" spc="10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analysis </a:t>
            </a: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on</a:t>
            </a:r>
            <a:r>
              <a:rPr sz="1400" spc="9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1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384654"/>
                </a:solidFill>
                <a:latin typeface="Calibri"/>
                <a:cs typeface="Calibri"/>
              </a:rPr>
              <a:t>store</a:t>
            </a:r>
            <a:r>
              <a:rPr sz="1400" spc="8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performance </a:t>
            </a:r>
            <a:r>
              <a:rPr sz="1400" spc="140" dirty="0">
                <a:solidFill>
                  <a:srgbClr val="384654"/>
                </a:solidFill>
                <a:latin typeface="Calibri"/>
                <a:cs typeface="Calibri"/>
              </a:rPr>
              <a:t>post-</a:t>
            </a:r>
            <a:r>
              <a:rPr sz="1400" dirty="0">
                <a:solidFill>
                  <a:srgbClr val="384654"/>
                </a:solidFill>
                <a:latin typeface="Calibri"/>
                <a:cs typeface="Calibri"/>
              </a:rPr>
              <a:t>trial</a:t>
            </a:r>
            <a:r>
              <a:rPr sz="1400" spc="22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384654"/>
                </a:solidFill>
                <a:latin typeface="Calibri"/>
                <a:cs typeface="Calibri"/>
              </a:rPr>
              <a:t>period.</a:t>
            </a:r>
            <a:endParaRPr sz="1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756285" algn="l"/>
              </a:tabLst>
            </a:pPr>
            <a:r>
              <a:rPr sz="1400" spc="70" dirty="0">
                <a:solidFill>
                  <a:srgbClr val="384654"/>
                </a:solidFill>
                <a:latin typeface="Calibri"/>
                <a:cs typeface="Calibri"/>
              </a:rPr>
              <a:t>Evaluate marketing</a:t>
            </a:r>
            <a:r>
              <a:rPr sz="1400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384654"/>
                </a:solidFill>
                <a:latin typeface="Calibri"/>
                <a:cs typeface="Calibri"/>
              </a:rPr>
              <a:t>intervention </a:t>
            </a:r>
            <a:r>
              <a:rPr sz="1400" spc="75" dirty="0">
                <a:solidFill>
                  <a:srgbClr val="384654"/>
                </a:solidFill>
                <a:latin typeface="Calibri"/>
                <a:cs typeface="Calibri"/>
              </a:rPr>
              <a:t>effectiveness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19930"/>
            <a:ext cx="1142365" cy="1033144"/>
            <a:chOff x="0" y="4119930"/>
            <a:chExt cx="1142365" cy="1033144"/>
          </a:xfrm>
        </p:grpSpPr>
        <p:sp>
          <p:nvSpPr>
            <p:cNvPr id="3" name="object 3"/>
            <p:cNvSpPr/>
            <p:nvPr/>
          </p:nvSpPr>
          <p:spPr>
            <a:xfrm>
              <a:off x="0" y="4119930"/>
              <a:ext cx="591820" cy="968375"/>
            </a:xfrm>
            <a:custGeom>
              <a:avLst/>
              <a:gdLst/>
              <a:ahLst/>
              <a:cxnLst/>
              <a:rect l="l" t="t" r="r" b="b"/>
              <a:pathLst>
                <a:path w="591820" h="968375">
                  <a:moveTo>
                    <a:pt x="171704" y="0"/>
                  </a:moveTo>
                  <a:lnTo>
                    <a:pt x="0" y="99185"/>
                  </a:lnTo>
                  <a:lnTo>
                    <a:pt x="0" y="868942"/>
                  </a:lnTo>
                  <a:lnTo>
                    <a:pt x="171704" y="968124"/>
                  </a:lnTo>
                  <a:lnTo>
                    <a:pt x="591413" y="726097"/>
                  </a:lnTo>
                  <a:lnTo>
                    <a:pt x="591413" y="242036"/>
                  </a:lnTo>
                  <a:lnTo>
                    <a:pt x="171704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547" y="4615751"/>
              <a:ext cx="838835" cy="528320"/>
            </a:xfrm>
            <a:custGeom>
              <a:avLst/>
              <a:gdLst/>
              <a:ahLst/>
              <a:cxnLst/>
              <a:rect l="l" t="t" r="r" b="b"/>
              <a:pathLst>
                <a:path w="838835" h="528320">
                  <a:moveTo>
                    <a:pt x="418998" y="0"/>
                  </a:moveTo>
                  <a:lnTo>
                    <a:pt x="0" y="242036"/>
                  </a:lnTo>
                  <a:lnTo>
                    <a:pt x="0" y="527748"/>
                  </a:lnTo>
                  <a:lnTo>
                    <a:pt x="838707" y="527748"/>
                  </a:lnTo>
                  <a:lnTo>
                    <a:pt x="838707" y="242036"/>
                  </a:lnTo>
                  <a:lnTo>
                    <a:pt x="418998" y="0"/>
                  </a:lnTo>
                  <a:close/>
                </a:path>
              </a:pathLst>
            </a:custGeom>
            <a:solidFill>
              <a:srgbClr val="9FCAFC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47" y="4615751"/>
              <a:ext cx="838835" cy="528320"/>
            </a:xfrm>
            <a:custGeom>
              <a:avLst/>
              <a:gdLst/>
              <a:ahLst/>
              <a:cxnLst/>
              <a:rect l="l" t="t" r="r" b="b"/>
              <a:pathLst>
                <a:path w="838835" h="528320">
                  <a:moveTo>
                    <a:pt x="838707" y="527748"/>
                  </a:moveTo>
                  <a:lnTo>
                    <a:pt x="838707" y="242036"/>
                  </a:lnTo>
                  <a:lnTo>
                    <a:pt x="418998" y="0"/>
                  </a:lnTo>
                  <a:lnTo>
                    <a:pt x="0" y="242036"/>
                  </a:lnTo>
                  <a:lnTo>
                    <a:pt x="0" y="527748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002269" y="4119930"/>
            <a:ext cx="1141730" cy="1033144"/>
            <a:chOff x="8002269" y="4119930"/>
            <a:chExt cx="1141730" cy="1033144"/>
          </a:xfrm>
        </p:grpSpPr>
        <p:sp>
          <p:nvSpPr>
            <p:cNvPr id="7" name="object 7"/>
            <p:cNvSpPr/>
            <p:nvPr/>
          </p:nvSpPr>
          <p:spPr>
            <a:xfrm>
              <a:off x="8552560" y="4119930"/>
              <a:ext cx="591820" cy="968375"/>
            </a:xfrm>
            <a:custGeom>
              <a:avLst/>
              <a:gdLst/>
              <a:ahLst/>
              <a:cxnLst/>
              <a:rect l="l" t="t" r="r" b="b"/>
              <a:pathLst>
                <a:path w="591820" h="968375">
                  <a:moveTo>
                    <a:pt x="419735" y="0"/>
                  </a:moveTo>
                  <a:lnTo>
                    <a:pt x="0" y="242036"/>
                  </a:lnTo>
                  <a:lnTo>
                    <a:pt x="0" y="726097"/>
                  </a:lnTo>
                  <a:lnTo>
                    <a:pt x="419735" y="968124"/>
                  </a:lnTo>
                  <a:lnTo>
                    <a:pt x="591439" y="868936"/>
                  </a:lnTo>
                  <a:lnTo>
                    <a:pt x="591439" y="99191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9FC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1794" y="4615751"/>
              <a:ext cx="838835" cy="528320"/>
            </a:xfrm>
            <a:custGeom>
              <a:avLst/>
              <a:gdLst/>
              <a:ahLst/>
              <a:cxnLst/>
              <a:rect l="l" t="t" r="r" b="b"/>
              <a:pathLst>
                <a:path w="838834" h="528320">
                  <a:moveTo>
                    <a:pt x="419607" y="0"/>
                  </a:moveTo>
                  <a:lnTo>
                    <a:pt x="0" y="242036"/>
                  </a:lnTo>
                  <a:lnTo>
                    <a:pt x="0" y="527748"/>
                  </a:lnTo>
                  <a:lnTo>
                    <a:pt x="838707" y="527748"/>
                  </a:lnTo>
                  <a:lnTo>
                    <a:pt x="838707" y="242036"/>
                  </a:lnTo>
                  <a:lnTo>
                    <a:pt x="4196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11794" y="4615751"/>
              <a:ext cx="838835" cy="528320"/>
            </a:xfrm>
            <a:custGeom>
              <a:avLst/>
              <a:gdLst/>
              <a:ahLst/>
              <a:cxnLst/>
              <a:rect l="l" t="t" r="r" b="b"/>
              <a:pathLst>
                <a:path w="838834" h="528320">
                  <a:moveTo>
                    <a:pt x="0" y="527748"/>
                  </a:moveTo>
                  <a:lnTo>
                    <a:pt x="0" y="242036"/>
                  </a:lnTo>
                  <a:lnTo>
                    <a:pt x="419607" y="0"/>
                  </a:lnTo>
                  <a:lnTo>
                    <a:pt x="838707" y="242036"/>
                  </a:lnTo>
                  <a:lnTo>
                    <a:pt x="838707" y="527748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0" y="-9525"/>
            <a:ext cx="1142365" cy="1027430"/>
            <a:chOff x="0" y="-9525"/>
            <a:chExt cx="1142365" cy="1027430"/>
          </a:xfrm>
        </p:grpSpPr>
        <p:sp>
          <p:nvSpPr>
            <p:cNvPr id="11" name="object 11"/>
            <p:cNvSpPr/>
            <p:nvPr/>
          </p:nvSpPr>
          <p:spPr>
            <a:xfrm>
              <a:off x="0" y="49656"/>
              <a:ext cx="591820" cy="968375"/>
            </a:xfrm>
            <a:custGeom>
              <a:avLst/>
              <a:gdLst/>
              <a:ahLst/>
              <a:cxnLst/>
              <a:rect l="l" t="t" r="r" b="b"/>
              <a:pathLst>
                <a:path w="591820" h="968375">
                  <a:moveTo>
                    <a:pt x="171704" y="0"/>
                  </a:moveTo>
                  <a:lnTo>
                    <a:pt x="0" y="99144"/>
                  </a:lnTo>
                  <a:lnTo>
                    <a:pt x="0" y="868924"/>
                  </a:lnTo>
                  <a:lnTo>
                    <a:pt x="171704" y="968120"/>
                  </a:lnTo>
                  <a:lnTo>
                    <a:pt x="591413" y="726058"/>
                  </a:lnTo>
                  <a:lnTo>
                    <a:pt x="591413" y="241934"/>
                  </a:lnTo>
                  <a:lnTo>
                    <a:pt x="171704" y="0"/>
                  </a:lnTo>
                  <a:close/>
                </a:path>
              </a:pathLst>
            </a:custGeom>
            <a:solidFill>
              <a:srgbClr val="AEC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547" y="0"/>
              <a:ext cx="838835" cy="521970"/>
            </a:xfrm>
            <a:custGeom>
              <a:avLst/>
              <a:gdLst/>
              <a:ahLst/>
              <a:cxnLst/>
              <a:rect l="l" t="t" r="r" b="b"/>
              <a:pathLst>
                <a:path w="838835" h="521970">
                  <a:moveTo>
                    <a:pt x="838707" y="0"/>
                  </a:moveTo>
                  <a:lnTo>
                    <a:pt x="0" y="0"/>
                  </a:lnTo>
                  <a:lnTo>
                    <a:pt x="0" y="279908"/>
                  </a:lnTo>
                  <a:lnTo>
                    <a:pt x="418998" y="521842"/>
                  </a:lnTo>
                  <a:lnTo>
                    <a:pt x="838707" y="279908"/>
                  </a:lnTo>
                  <a:lnTo>
                    <a:pt x="838707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547" y="0"/>
              <a:ext cx="838835" cy="521970"/>
            </a:xfrm>
            <a:custGeom>
              <a:avLst/>
              <a:gdLst/>
              <a:ahLst/>
              <a:cxnLst/>
              <a:rect l="l" t="t" r="r" b="b"/>
              <a:pathLst>
                <a:path w="838835" h="521970">
                  <a:moveTo>
                    <a:pt x="838707" y="0"/>
                  </a:moveTo>
                  <a:lnTo>
                    <a:pt x="838707" y="279908"/>
                  </a:lnTo>
                  <a:lnTo>
                    <a:pt x="418998" y="521842"/>
                  </a:lnTo>
                  <a:lnTo>
                    <a:pt x="0" y="27990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002269" y="-9525"/>
            <a:ext cx="1141730" cy="1027430"/>
            <a:chOff x="8002269" y="-9525"/>
            <a:chExt cx="1141730" cy="1027430"/>
          </a:xfrm>
        </p:grpSpPr>
        <p:sp>
          <p:nvSpPr>
            <p:cNvPr id="15" name="object 15"/>
            <p:cNvSpPr/>
            <p:nvPr/>
          </p:nvSpPr>
          <p:spPr>
            <a:xfrm>
              <a:off x="8552560" y="49656"/>
              <a:ext cx="591820" cy="968375"/>
            </a:xfrm>
            <a:custGeom>
              <a:avLst/>
              <a:gdLst/>
              <a:ahLst/>
              <a:cxnLst/>
              <a:rect l="l" t="t" r="r" b="b"/>
              <a:pathLst>
                <a:path w="591820" h="968375">
                  <a:moveTo>
                    <a:pt x="419735" y="0"/>
                  </a:moveTo>
                  <a:lnTo>
                    <a:pt x="0" y="241934"/>
                  </a:lnTo>
                  <a:lnTo>
                    <a:pt x="0" y="726058"/>
                  </a:lnTo>
                  <a:lnTo>
                    <a:pt x="419735" y="968120"/>
                  </a:lnTo>
                  <a:lnTo>
                    <a:pt x="591439" y="868918"/>
                  </a:lnTo>
                  <a:lnTo>
                    <a:pt x="591439" y="99150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6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11794" y="0"/>
              <a:ext cx="838835" cy="521970"/>
            </a:xfrm>
            <a:custGeom>
              <a:avLst/>
              <a:gdLst/>
              <a:ahLst/>
              <a:cxnLst/>
              <a:rect l="l" t="t" r="r" b="b"/>
              <a:pathLst>
                <a:path w="838834" h="521970">
                  <a:moveTo>
                    <a:pt x="838707" y="0"/>
                  </a:moveTo>
                  <a:lnTo>
                    <a:pt x="0" y="0"/>
                  </a:lnTo>
                  <a:lnTo>
                    <a:pt x="0" y="279908"/>
                  </a:lnTo>
                  <a:lnTo>
                    <a:pt x="419607" y="521842"/>
                  </a:lnTo>
                  <a:lnTo>
                    <a:pt x="838707" y="279908"/>
                  </a:lnTo>
                  <a:lnTo>
                    <a:pt x="838707" y="0"/>
                  </a:lnTo>
                  <a:close/>
                </a:path>
              </a:pathLst>
            </a:custGeom>
            <a:solidFill>
              <a:srgbClr val="AEC6F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11794" y="0"/>
              <a:ext cx="838835" cy="521970"/>
            </a:xfrm>
            <a:custGeom>
              <a:avLst/>
              <a:gdLst/>
              <a:ahLst/>
              <a:cxnLst/>
              <a:rect l="l" t="t" r="r" b="b"/>
              <a:pathLst>
                <a:path w="838834" h="521970">
                  <a:moveTo>
                    <a:pt x="0" y="0"/>
                  </a:moveTo>
                  <a:lnTo>
                    <a:pt x="0" y="279908"/>
                  </a:lnTo>
                  <a:lnTo>
                    <a:pt x="419607" y="521842"/>
                  </a:lnTo>
                  <a:lnTo>
                    <a:pt x="838707" y="279908"/>
                  </a:lnTo>
                  <a:lnTo>
                    <a:pt x="838707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370326" y="692353"/>
            <a:ext cx="2404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70" dirty="0"/>
              <a:t>Thank</a:t>
            </a:r>
            <a:r>
              <a:rPr sz="3600" spc="-140" dirty="0"/>
              <a:t> </a:t>
            </a:r>
            <a:r>
              <a:rPr sz="3600" spc="114" dirty="0"/>
              <a:t>You!</a:t>
            </a:r>
            <a:endParaRPr sz="3600"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19" y="1888235"/>
            <a:ext cx="785622" cy="64084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26109" y="1589658"/>
            <a:ext cx="64001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5" dirty="0" smtClean="0">
                <a:solidFill>
                  <a:srgbClr val="384654"/>
                </a:solidFill>
                <a:latin typeface="Calibri"/>
                <a:cs typeface="Calibri"/>
              </a:rPr>
              <a:t>Have</a:t>
            </a:r>
            <a:r>
              <a:rPr sz="2400" b="1" spc="45" dirty="0" smtClean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210" dirty="0">
                <a:solidFill>
                  <a:srgbClr val="384654"/>
                </a:solidFill>
                <a:latin typeface="Calibri"/>
                <a:cs typeface="Calibri"/>
              </a:rPr>
              <a:t>any</a:t>
            </a:r>
            <a:r>
              <a:rPr sz="2400" b="1" spc="7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190" dirty="0">
                <a:solidFill>
                  <a:srgbClr val="384654"/>
                </a:solidFill>
                <a:latin typeface="Calibri"/>
                <a:cs typeface="Calibri"/>
              </a:rPr>
              <a:t>questions?</a:t>
            </a:r>
            <a:r>
              <a:rPr sz="2400" b="1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170" dirty="0">
                <a:solidFill>
                  <a:srgbClr val="384654"/>
                </a:solidFill>
                <a:latin typeface="Calibri"/>
                <a:cs typeface="Calibri"/>
              </a:rPr>
              <a:t>Feel</a:t>
            </a:r>
            <a:r>
              <a:rPr sz="2400" b="1" spc="5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150" dirty="0">
                <a:solidFill>
                  <a:srgbClr val="384654"/>
                </a:solidFill>
                <a:latin typeface="Calibri"/>
                <a:cs typeface="Calibri"/>
              </a:rPr>
              <a:t>free</a:t>
            </a:r>
            <a:r>
              <a:rPr sz="2400" b="1" spc="4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155" dirty="0">
                <a:solidFill>
                  <a:srgbClr val="384654"/>
                </a:solidFill>
                <a:latin typeface="Calibri"/>
                <a:cs typeface="Calibri"/>
              </a:rPr>
              <a:t>to</a:t>
            </a:r>
            <a:r>
              <a:rPr sz="2400" b="1" spc="5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220" dirty="0">
                <a:solidFill>
                  <a:srgbClr val="384654"/>
                </a:solidFill>
                <a:latin typeface="Calibri"/>
                <a:cs typeface="Calibri"/>
              </a:rPr>
              <a:t>reach</a:t>
            </a:r>
            <a:r>
              <a:rPr sz="2400" b="1" spc="45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sz="2400" b="1" spc="80" dirty="0">
                <a:solidFill>
                  <a:srgbClr val="384654"/>
                </a:solidFill>
                <a:latin typeface="Calibri"/>
                <a:cs typeface="Calibri"/>
              </a:rPr>
              <a:t>out</a:t>
            </a:r>
            <a:r>
              <a:rPr sz="2400" b="1" spc="80" dirty="0" smtClean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endParaRPr lang="en-IN" sz="2400" b="1" spc="80" dirty="0" smtClean="0">
              <a:solidFill>
                <a:srgbClr val="384654"/>
              </a:solidFill>
              <a:latin typeface="Calibri"/>
              <a:cs typeface="Calibri"/>
            </a:endParaRPr>
          </a:p>
          <a:p>
            <a:pPr marL="512445">
              <a:lnSpc>
                <a:spcPct val="100000"/>
              </a:lnSpc>
              <a:spcBef>
                <a:spcPts val="35"/>
              </a:spcBef>
            </a:pPr>
            <a:r>
              <a:rPr sz="2400" spc="55" dirty="0" smtClean="0">
                <a:solidFill>
                  <a:srgbClr val="384654"/>
                </a:solidFill>
                <a:latin typeface="Calibri"/>
                <a:cs typeface="Calibri"/>
              </a:rPr>
              <a:t>Email</a:t>
            </a:r>
            <a:r>
              <a:rPr sz="2400" spc="55" dirty="0">
                <a:solidFill>
                  <a:srgbClr val="384654"/>
                </a:solidFill>
                <a:latin typeface="Calibri"/>
                <a:cs typeface="Calibri"/>
              </a:rPr>
              <a:t>:</a:t>
            </a:r>
            <a:r>
              <a:rPr sz="2400" spc="130" dirty="0">
                <a:solidFill>
                  <a:srgbClr val="384654"/>
                </a:solidFill>
                <a:latin typeface="Calibri"/>
                <a:cs typeface="Calibri"/>
              </a:rPr>
              <a:t> </a:t>
            </a:r>
            <a:r>
              <a:rPr lang="en-IN" sz="2400" u="sng" spc="135" dirty="0" err="1" smtClean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  <a:hlinkClick r:id="rId3"/>
              </a:rPr>
              <a:t>mitodrumridha</a:t>
            </a:r>
            <a:r>
              <a:rPr sz="2400" u="sng" spc="135" dirty="0" smtClean="0">
                <a:solidFill>
                  <a:srgbClr val="384654"/>
                </a:solidFill>
                <a:uFill>
                  <a:solidFill>
                    <a:srgbClr val="384654"/>
                  </a:solidFill>
                </a:uFill>
                <a:latin typeface="Calibri"/>
                <a:cs typeface="Calibri"/>
                <a:hlinkClick r:id="rId3"/>
              </a:rPr>
              <a:t>@gmail.com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8465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1074</Words>
  <Application>Microsoft Office PowerPoint</Application>
  <PresentationFormat>On-screen Show (16:9)</PresentationFormat>
  <Paragraphs>141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Crunching the Numbers: EDA of Chips Industry Data A QUANTIUM Job Simulation</vt:lpstr>
      <vt:lpstr>Task 1</vt:lpstr>
      <vt:lpstr>Project Overview</vt:lpstr>
      <vt:lpstr>Objective</vt:lpstr>
      <vt:lpstr>Datasets Used</vt:lpstr>
      <vt:lpstr>Data Processing</vt:lpstr>
      <vt:lpstr>Data Cleaning</vt:lpstr>
      <vt:lpstr>Exploratory Data Analysis (EDA)</vt:lpstr>
      <vt:lpstr>Visualisation 1: Top 5 Chip Brands</vt:lpstr>
      <vt:lpstr>Visualization 2 - Customer Segmentation by Life-stage</vt:lpstr>
      <vt:lpstr>Visualization 3 - Customer Segmentation by Premium/Budget/Mainstream</vt:lpstr>
      <vt:lpstr>Task 2</vt:lpstr>
      <vt:lpstr>Project Overview</vt:lpstr>
      <vt:lpstr>Control Store Selection Methodology</vt:lpstr>
      <vt:lpstr>Control Store Selection Process</vt:lpstr>
      <vt:lpstr>Visualisation 1: Total Sales Comparison</vt:lpstr>
      <vt:lpstr>Visualization 2: Total Customers Comparison</vt:lpstr>
      <vt:lpstr>Visualization 3: Avg Transactions Per Customer</vt:lpstr>
      <vt:lpstr>Conclusion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Crunching the Numbers: EDA of Chips Industry Data A QUANTIUM Job Simulation</dc:title>
  <dc:creator>Avik Sarkhel</dc:creator>
  <cp:lastModifiedBy>ismail - [2010]</cp:lastModifiedBy>
  <cp:revision>1</cp:revision>
  <dcterms:created xsi:type="dcterms:W3CDTF">2026-04-21T09:07:11Z</dcterms:created>
  <dcterms:modified xsi:type="dcterms:W3CDTF">2026-04-21T09:10:41Z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2026-04-21T00:00:00Z</vt:filetime>
  </property>
  <property fmtid="{D5CDD505-2E9C-101B-9397-08002B2CF9AE}" pid="5" name="Producer">
    <vt:lpwstr>Microsoft® PowerPoint® 2021</vt:lpwstr>
  </property>
</Properties>
</file>